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14" y="163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9F3B7-516F-46A6-871E-082B58D4AA3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C1D21-7770-4F58-B966-61C1C78D00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587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C1D21-7770-4F58-B966-61C1C78D003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4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C1D21-7770-4F58-B966-61C1C78D003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409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3A197-E2F9-5B25-A5D3-5AECB1793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C83058-3221-A8DA-F887-562209984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1268C9-F689-6202-2AF1-CAEFD7AD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BD6332-F840-60DA-C263-AAF150CA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B62DAA-63CF-CD48-F460-BB48CA69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69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CA88B-8A9F-F64A-EBC3-ECCBEE4C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D9F3E0-356A-C89A-60EC-AAE2AF58D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15BD27-8CA9-C166-144D-75368B69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24E5C-E723-F472-D6D3-0D5E83BD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BBE835-0177-C577-6554-EA010508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87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857E-6A5D-8E8D-51AE-47B07CE5C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3F743D-407C-49EF-FE67-DF718C8D8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91BA1E-6CB0-D462-CA17-FEC9AAFA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1E3477-0099-62B0-C7AF-D19FF57A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24AEC-19CA-1550-D3EC-081115BE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23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8E920-1180-0C96-351C-692D2F3C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4E263-2A29-492D-13AC-8657D8CC8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A4B972-9E97-E50A-8097-B546BB912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6AE223-FF13-E71B-FC11-6982B994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BC52AA-2687-46F4-FE0E-6FCB937FB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92BBEF-DBDD-2B9B-5F0D-10C307EF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0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92644-C0CD-AE9D-7957-5771EDD3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FA7581-0BC3-A678-4927-DEB1F8597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BB66F1-828C-C402-3358-089B78A77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B51D23-DDD4-C40A-8F0A-3F190EACB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65740C-DAAF-D2D1-51A9-CB8E5A1A9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977B36-BB81-E744-D9D6-70B290F5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871D88-523E-08FC-5F59-CF60C5B5E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4233A0-4665-5A9D-0212-C468E9A2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69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A9F5B-F6F1-3C4F-07D3-65225F1E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A0A5CB-30CC-B72C-6336-E45CDB818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C1A01F-6036-A4E6-42DF-EBB26549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31CB59-989D-B699-72F8-DDB54AE2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6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C2DDB1-722C-DFB4-587E-5E4B07EF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1D2D04-6A10-03BF-178F-06F36F2B1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1DBB4-0D35-C0D9-F2B2-D83E3691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22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0BBD9-570A-CBB8-04C1-BF6C38128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377A8-06B0-EFAD-51BF-9BAD7F206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65A244-E939-F546-0690-D33C2DA94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E01BC7-B459-F7B2-931D-66EC4FDF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51F786-0DE5-1F6F-79F8-A582E7BA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7A84AD-59D3-32FD-55E4-1D53FB4A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16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A15AF-FD74-ACB2-5390-C77E3F56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C81088-2151-5A74-58A5-2DE459FB8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74D458-D0C1-CB99-E58D-12DE6C3AE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98DF05-7548-B941-0D01-338997873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E54465-E07D-5938-FECC-69682693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9318B8-8772-B050-31E7-BE6ADFD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95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3B737-42FF-F8C2-ED67-E08649E9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2E2EAF-0D32-EB9E-1560-508B1674A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9DEAB-0E31-D201-E602-748A52E6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D211D-6CEF-8FDB-7229-7C2B5F22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68F2C-A41D-2941-C10C-9E52B411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21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C0E864-57DB-0C8C-155F-06E747DB5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3A87FD-24EF-AF66-7841-39B9F81CE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737491-14DD-BC28-EA93-6C433BC1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31446-5CAB-1E2A-BADB-9DF6A7BD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A6712-A0BF-5A1A-43C2-AA037400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4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4C8F5E-B8B9-6AF9-1B96-86B144CE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D5084D-6AAB-38B1-5B75-480AA3CDD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52E293-620A-BE89-9A69-51DC96455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598F9-F8DC-4A72-8FBC-3F744590B26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376DF-6CC5-000A-8B56-959BA8267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BB3C22-975C-0E85-1799-449C18E8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6F961-E437-43EC-8AB0-1BFFF548B2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767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8ACAC09-F711-3974-FDF1-DD8E3734BF75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  </a:t>
            </a:r>
            <a:r>
              <a:rPr lang="ko-KR" altLang="en-US" dirty="0">
                <a:solidFill>
                  <a:schemeClr val="tx1"/>
                </a:solidFill>
              </a:rPr>
              <a:t> 메인 페이지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7A3A30-4A79-35A8-5168-F3C8143D702B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HOME-001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84F8A4-602D-A9F1-1222-C9456FE3111C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F188E2-0AD4-FDFC-39BB-D8ECDD930226}"/>
              </a:ext>
            </a:extLst>
          </p:cNvPr>
          <p:cNvSpPr/>
          <p:nvPr/>
        </p:nvSpPr>
        <p:spPr>
          <a:xfrm>
            <a:off x="519545" y="1645180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8E9968-E955-8E5C-F3AC-B74A140A78FC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44EC07-A62C-9216-F211-76FFF9D631D9}"/>
              </a:ext>
            </a:extLst>
          </p:cNvPr>
          <p:cNvSpPr/>
          <p:nvPr/>
        </p:nvSpPr>
        <p:spPr>
          <a:xfrm>
            <a:off x="592428" y="1712699"/>
            <a:ext cx="8725437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9363A2-4094-AD60-6D39-83C517B812CE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00BA66-A58E-408F-439D-8E728A81B84A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E596AB-0668-10E1-AC35-3E7B86E39E52}"/>
              </a:ext>
            </a:extLst>
          </p:cNvPr>
          <p:cNvSpPr/>
          <p:nvPr/>
        </p:nvSpPr>
        <p:spPr>
          <a:xfrm>
            <a:off x="592428" y="2395661"/>
            <a:ext cx="8725437" cy="1249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BDD040-2E6D-8433-D7DB-334D77EEE38B}"/>
              </a:ext>
            </a:extLst>
          </p:cNvPr>
          <p:cNvSpPr/>
          <p:nvPr/>
        </p:nvSpPr>
        <p:spPr>
          <a:xfrm>
            <a:off x="701898" y="2509818"/>
            <a:ext cx="3052294" cy="4330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Welcome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message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C65455-5070-FE33-9587-C0748B4B7B24}"/>
              </a:ext>
            </a:extLst>
          </p:cNvPr>
          <p:cNvSpPr/>
          <p:nvPr/>
        </p:nvSpPr>
        <p:spPr>
          <a:xfrm>
            <a:off x="808148" y="3004045"/>
            <a:ext cx="2620851" cy="579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이번주 운동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2E31F8D-D1E5-EADE-F405-173465E76CDE}"/>
              </a:ext>
            </a:extLst>
          </p:cNvPr>
          <p:cNvSpPr/>
          <p:nvPr/>
        </p:nvSpPr>
        <p:spPr>
          <a:xfrm>
            <a:off x="3644719" y="3004045"/>
            <a:ext cx="2620851" cy="579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총 운동 시간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976ED74-0BF2-6B44-73B5-E68B222A0B03}"/>
              </a:ext>
            </a:extLst>
          </p:cNvPr>
          <p:cNvSpPr/>
          <p:nvPr/>
        </p:nvSpPr>
        <p:spPr>
          <a:xfrm>
            <a:off x="6481290" y="3004045"/>
            <a:ext cx="2620851" cy="579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연속 운동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스트릭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64671B6-00E6-E0AE-03D5-240116A9CCA4}"/>
              </a:ext>
            </a:extLst>
          </p:cNvPr>
          <p:cNvSpPr/>
          <p:nvPr/>
        </p:nvSpPr>
        <p:spPr>
          <a:xfrm>
            <a:off x="550571" y="3720289"/>
            <a:ext cx="8725437" cy="352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 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5F69E6-9A42-8B7D-FA4F-265B0B446071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81A59E-D84C-7119-611E-F66299017EAD}"/>
              </a:ext>
            </a:extLst>
          </p:cNvPr>
          <p:cNvSpPr/>
          <p:nvPr/>
        </p:nvSpPr>
        <p:spPr>
          <a:xfrm>
            <a:off x="550571" y="4148804"/>
            <a:ext cx="8725437" cy="352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카테고리 탭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5E5F32-F457-F962-FC5C-887A20C4DEF2}"/>
              </a:ext>
            </a:extLst>
          </p:cNvPr>
          <p:cNvSpPr/>
          <p:nvPr/>
        </p:nvSpPr>
        <p:spPr>
          <a:xfrm>
            <a:off x="550571" y="4553556"/>
            <a:ext cx="8725437" cy="14468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VideoList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+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VideoListItem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2522414-FB83-FDF3-7433-4D6E8E19E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868168"/>
              </p:ext>
            </p:extLst>
          </p:nvPr>
        </p:nvGraphicFramePr>
        <p:xfrm>
          <a:off x="9459531" y="932344"/>
          <a:ext cx="2620852" cy="5738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홈트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FIT)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/>
                        <a:t>이번 주 운동 요약 배너</a:t>
                      </a:r>
                      <a:endParaRPr lang="en-US" altLang="ko-KR" sz="900" u="sng" dirty="0"/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dirty="0"/>
                        <a:t>이번 주 운동 일수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총 운동 시간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연속 운동 일수를 카드 형태로 표시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배너 전체 클릭 시 마이페이지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운동 기록 상세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로 이동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/>
                        <a:t>검색 바</a:t>
                      </a:r>
                      <a:endParaRPr lang="en-US" altLang="ko-KR" sz="900" u="sng" dirty="0"/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dirty="0"/>
                        <a:t>운동 영상 제목 또는 강사명으로 검색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입력 후 </a:t>
                      </a:r>
                      <a:r>
                        <a:rPr lang="ko-KR" altLang="en-US" sz="900" dirty="0" err="1"/>
                        <a:t>엔터</a:t>
                      </a:r>
                      <a:r>
                        <a:rPr lang="ko-KR" altLang="en-US" sz="900" dirty="0"/>
                        <a:t> 또는 검색 아이콘 클릭 시 목록 필터링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/>
                        <a:t>카테고리 탭</a:t>
                      </a:r>
                      <a:endParaRPr lang="en-US" altLang="ko-KR" sz="900" u="sng" dirty="0"/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전체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상체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하체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코어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유산소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스트레칭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요가</a:t>
                      </a:r>
                      <a:r>
                        <a:rPr lang="ko-KR" altLang="en-US" sz="900" dirty="0"/>
                        <a:t> 탭 제공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해당 카테고리 영상만 목록에 표시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64279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/>
                        <a:t>인기 운동 영상 리스트</a:t>
                      </a:r>
                      <a:endParaRPr lang="en-US" altLang="ko-KR" sz="900" u="sng" dirty="0"/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dirty="0"/>
                        <a:t>썸네일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난이도 태그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초급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중급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고급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제목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강사명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평점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조회수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영상 길이 표시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카드 클릭 시 영상 상세 화면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/videos/:id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으로 이동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40A34DD-F246-E9C2-79C1-AFCD08CA2BD9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92B04D1-1A45-FEA1-8BAD-59557CBF52F1}"/>
              </a:ext>
            </a:extLst>
          </p:cNvPr>
          <p:cNvSpPr/>
          <p:nvPr/>
        </p:nvSpPr>
        <p:spPr>
          <a:xfrm>
            <a:off x="550571" y="2298416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57E12F8-999A-90B2-784C-B14DFA2CCCF2}"/>
              </a:ext>
            </a:extLst>
          </p:cNvPr>
          <p:cNvSpPr/>
          <p:nvPr/>
        </p:nvSpPr>
        <p:spPr>
          <a:xfrm>
            <a:off x="550571" y="3694969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D40E10C-96F7-E176-C8FC-776F76C278F7}"/>
              </a:ext>
            </a:extLst>
          </p:cNvPr>
          <p:cNvSpPr/>
          <p:nvPr/>
        </p:nvSpPr>
        <p:spPr>
          <a:xfrm>
            <a:off x="550571" y="413634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E8491DF-C25C-AAF7-E844-8E981FEDD044}"/>
              </a:ext>
            </a:extLst>
          </p:cNvPr>
          <p:cNvSpPr/>
          <p:nvPr/>
        </p:nvSpPr>
        <p:spPr>
          <a:xfrm>
            <a:off x="550571" y="455239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5DAFA44-3E7F-D59B-189E-4EE7B26D9502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605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D6BF8-8AEA-2D59-D3EE-7207F6DEF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AD78890-C193-B164-92B7-2371868CD8AE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	</a:t>
            </a:r>
            <a:r>
              <a:rPr lang="ko-KR" altLang="en-US" dirty="0">
                <a:solidFill>
                  <a:schemeClr val="tx1"/>
                </a:solidFill>
              </a:rPr>
              <a:t>운동 영상 상세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C325BC-0039-160F-2CA4-826961BBF1F1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VIDEO-001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D9D922-956B-48DE-3A85-BAA2139ECF47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/videos/:</a:t>
            </a:r>
            <a:r>
              <a:rPr lang="en-US" altLang="ko-KR" dirty="0" err="1">
                <a:solidFill>
                  <a:schemeClr val="tx1"/>
                </a:solidFill>
              </a:rPr>
              <a:t>videoId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F86C09-2035-06CB-A96A-801D853680BA}"/>
              </a:ext>
            </a:extLst>
          </p:cNvPr>
          <p:cNvSpPr/>
          <p:nvPr/>
        </p:nvSpPr>
        <p:spPr>
          <a:xfrm>
            <a:off x="519545" y="1645180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C8C722-4BDC-CC8F-EE70-5F254F2FF079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D6C90D-FF11-5A2B-5F71-5AD867EDFDF8}"/>
              </a:ext>
            </a:extLst>
          </p:cNvPr>
          <p:cNvSpPr/>
          <p:nvPr/>
        </p:nvSpPr>
        <p:spPr>
          <a:xfrm>
            <a:off x="592428" y="1712699"/>
            <a:ext cx="8725437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A3D395-6DD9-1FFC-C0F5-FBE29D5FE8E2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4A0224-8B81-0081-581A-B2C1DF5B7AEB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6CADE9-8AC2-F1DD-2B64-8459EBCAEA40}"/>
              </a:ext>
            </a:extLst>
          </p:cNvPr>
          <p:cNvSpPr/>
          <p:nvPr/>
        </p:nvSpPr>
        <p:spPr>
          <a:xfrm>
            <a:off x="592428" y="2395661"/>
            <a:ext cx="8725437" cy="1249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영상 플레이어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D6CAB6-0935-1A64-2FD6-1618BB8C6865}"/>
              </a:ext>
            </a:extLst>
          </p:cNvPr>
          <p:cNvSpPr/>
          <p:nvPr/>
        </p:nvSpPr>
        <p:spPr>
          <a:xfrm>
            <a:off x="550571" y="3720289"/>
            <a:ext cx="8725437" cy="352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영상 제목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채널명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 조회수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평점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71EBBC-D953-8883-3D86-29A80954787D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C6FD21-8BF2-E02D-F180-40B8920C6DB5}"/>
              </a:ext>
            </a:extLst>
          </p:cNvPr>
          <p:cNvSpPr/>
          <p:nvPr/>
        </p:nvSpPr>
        <p:spPr>
          <a:xfrm>
            <a:off x="550571" y="4148804"/>
            <a:ext cx="8725437" cy="352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좋아요</a:t>
            </a:r>
            <a:r>
              <a:rPr lang="en-US" altLang="ko-KR" dirty="0">
                <a:solidFill>
                  <a:schemeClr val="tx1"/>
                </a:solidFill>
              </a:rPr>
              <a:t>] [</a:t>
            </a:r>
            <a:r>
              <a:rPr lang="ko-KR" altLang="en-US" dirty="0">
                <a:solidFill>
                  <a:schemeClr val="tx1"/>
                </a:solidFill>
              </a:rPr>
              <a:t>플레이리스트 추가</a:t>
            </a:r>
            <a:r>
              <a:rPr lang="en-US" altLang="ko-KR" dirty="0">
                <a:solidFill>
                  <a:schemeClr val="tx1"/>
                </a:solidFill>
              </a:rPr>
              <a:t>] [</a:t>
            </a:r>
            <a:r>
              <a:rPr lang="ko-KR" altLang="en-US" dirty="0">
                <a:solidFill>
                  <a:schemeClr val="tx1"/>
                </a:solidFill>
              </a:rPr>
              <a:t>공유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F9302D-ACE2-AD1A-807B-85897EFC6578}"/>
              </a:ext>
            </a:extLst>
          </p:cNvPr>
          <p:cNvSpPr/>
          <p:nvPr/>
        </p:nvSpPr>
        <p:spPr>
          <a:xfrm>
            <a:off x="550571" y="4553556"/>
            <a:ext cx="8725437" cy="14468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 댓글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댓글 입력 영역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8DB9DC5-447B-190C-CFE9-641A0DA13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280828"/>
              </p:ext>
            </p:extLst>
          </p:nvPr>
        </p:nvGraphicFramePr>
        <p:xfrm>
          <a:off x="9459531" y="932345"/>
          <a:ext cx="2620852" cy="5850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8986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홈트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FIT)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8986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영상 플레이어 영역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dirty="0"/>
                        <a:t>선택한 운동 영상의 썸네일 또는 </a:t>
                      </a:r>
                      <a:r>
                        <a:rPr lang="en-US" altLang="ko-KR" sz="900" dirty="0"/>
                        <a:t>YouTube </a:t>
                      </a:r>
                      <a:r>
                        <a:rPr lang="ko-KR" altLang="en-US" sz="900" dirty="0"/>
                        <a:t>플레이어를 크게 표시한다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중앙의 재생 버튼을 클릭하면 실제 </a:t>
                      </a:r>
                      <a:r>
                        <a:rPr lang="en-US" altLang="ko-KR" sz="900" dirty="0"/>
                        <a:t>YouTube </a:t>
                      </a:r>
                      <a:r>
                        <a:rPr lang="ko-KR" altLang="en-US" sz="900" dirty="0"/>
                        <a:t>재생을 시작한다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8986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영상 기본 정보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0" dirty="0"/>
                        <a:t>영상의 메타 정보를 제공하는 영역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제목</a:t>
                      </a:r>
                      <a:r>
                        <a:rPr lang="en-US" altLang="ko-KR" sz="900" b="0" dirty="0"/>
                        <a:t>,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ko-KR" altLang="en-US" sz="900" b="0" dirty="0" err="1"/>
                        <a:t>채널명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조회수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평점을 한 줄 또는 두 줄로 정리해 표시한다</a:t>
                      </a:r>
                      <a:r>
                        <a:rPr lang="en-US" altLang="ko-KR" sz="900" b="0" dirty="0"/>
                        <a:t>. 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2456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액션 버튼 영역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0" dirty="0"/>
                        <a:t>영상에 대한 주요 액션 버튼 </a:t>
                      </a: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종을 배치한다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좋아요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 err="1"/>
                        <a:t>토글</a:t>
                      </a:r>
                      <a:r>
                        <a:rPr lang="ko-KR" altLang="en-US" sz="900" b="0" dirty="0"/>
                        <a:t> 형태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클릭 시 좋아요 수 증가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취소</a:t>
                      </a:r>
                      <a:r>
                        <a:rPr lang="en-US" altLang="ko-KR" sz="900" b="0" dirty="0"/>
                        <a:t>.  </a:t>
                      </a:r>
                      <a:r>
                        <a:rPr lang="ko-KR" altLang="en-US" sz="900" b="0" dirty="0"/>
                        <a:t>플레이리스트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클릭 시 플레이리스트 선택 </a:t>
                      </a:r>
                      <a:r>
                        <a:rPr lang="ko-KR" altLang="en-US" sz="900" b="0" dirty="0" err="1"/>
                        <a:t>모달</a:t>
                      </a:r>
                      <a:r>
                        <a:rPr lang="ko-KR" altLang="en-US" sz="900" b="0" dirty="0"/>
                        <a:t> 또는 “새 플레이리스트 만들기” 화면으로 이동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공유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링크 복사 또는 </a:t>
                      </a:r>
                      <a:r>
                        <a:rPr lang="en-US" altLang="ko-KR" sz="900" b="0" dirty="0"/>
                        <a:t>SNS </a:t>
                      </a:r>
                      <a:r>
                        <a:rPr lang="ko-KR" altLang="en-US" sz="900" b="0" dirty="0"/>
                        <a:t>공유 </a:t>
                      </a:r>
                      <a:r>
                        <a:rPr lang="ko-KR" altLang="en-US" sz="900" b="0" dirty="0" err="1"/>
                        <a:t>모달</a:t>
                      </a:r>
                      <a:r>
                        <a:rPr lang="ko-KR" altLang="en-US" sz="900" b="0" dirty="0"/>
                        <a:t> 노출</a:t>
                      </a:r>
                      <a:r>
                        <a:rPr lang="en-US" altLang="ko-KR" sz="900" b="0" dirty="0"/>
                        <a:t>.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64279"/>
                  </a:ext>
                </a:extLst>
              </a:tr>
              <a:tr h="8986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 리뷰 영역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b="0" dirty="0"/>
                        <a:t>영상에 대한 사용자 후기 리스트와 리뷰 작성 영역</a:t>
                      </a:r>
                      <a:r>
                        <a:rPr lang="en-US" altLang="ko-KR" sz="900" b="0" dirty="0"/>
                        <a:t>.. </a:t>
                      </a:r>
                      <a:r>
                        <a:rPr lang="ko-KR" altLang="en-US" sz="900" b="0" dirty="0"/>
                        <a:t>리뷰가 없으면 “아직 리뷰가 없습니다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첫 리뷰를 남겨보세요</a:t>
                      </a:r>
                      <a:r>
                        <a:rPr lang="en-US" altLang="ko-KR" sz="900" b="0" dirty="0"/>
                        <a:t>!” </a:t>
                      </a:r>
                      <a:r>
                        <a:rPr lang="ko-KR" altLang="en-US" sz="900" b="0" dirty="0"/>
                        <a:t>문구를 표시한다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8986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/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8B1B47E-A115-A47B-9A2E-1A4566475E09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38B0C30-C5BD-A8A5-5CF5-BE45CEE70815}"/>
              </a:ext>
            </a:extLst>
          </p:cNvPr>
          <p:cNvSpPr/>
          <p:nvPr/>
        </p:nvSpPr>
        <p:spPr>
          <a:xfrm>
            <a:off x="550571" y="2298416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5644C64-7E93-654A-EF53-05A8FF262059}"/>
              </a:ext>
            </a:extLst>
          </p:cNvPr>
          <p:cNvSpPr/>
          <p:nvPr/>
        </p:nvSpPr>
        <p:spPr>
          <a:xfrm>
            <a:off x="550571" y="3694969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A81B279-05FD-2A63-2FAA-936CB3C6473B}"/>
              </a:ext>
            </a:extLst>
          </p:cNvPr>
          <p:cNvSpPr/>
          <p:nvPr/>
        </p:nvSpPr>
        <p:spPr>
          <a:xfrm>
            <a:off x="550571" y="413634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48AC8DD-439F-DB4B-E2A5-FEBB426CCE9B}"/>
              </a:ext>
            </a:extLst>
          </p:cNvPr>
          <p:cNvSpPr/>
          <p:nvPr/>
        </p:nvSpPr>
        <p:spPr>
          <a:xfrm>
            <a:off x="550571" y="455239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116F36F-BE9C-817B-0459-64A9689C7C3A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092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B989-D2E3-CF7B-6FF4-86EBFB854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B8470F6-7C1D-3C51-D5F6-9DC653F5C319}"/>
              </a:ext>
            </a:extLst>
          </p:cNvPr>
          <p:cNvSpPr/>
          <p:nvPr/>
        </p:nvSpPr>
        <p:spPr>
          <a:xfrm>
            <a:off x="519545" y="1645180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2E029C-7FCD-8DFD-6F16-4677FB2AAE6B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 	 </a:t>
            </a:r>
            <a:r>
              <a:rPr lang="ko-KR" altLang="en-US" dirty="0">
                <a:solidFill>
                  <a:schemeClr val="tx1"/>
                </a:solidFill>
              </a:rPr>
              <a:t>마이페이지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9BCE72-718C-4032-DE06-DC9C94D17813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MYPAGE-001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7939BC-2452-1CB6-99C6-C63683CF8219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</a:t>
            </a:r>
            <a:r>
              <a:rPr lang="en-US" altLang="ko-KR" dirty="0" err="1">
                <a:solidFill>
                  <a:schemeClr val="tx1"/>
                </a:solidFill>
              </a:rPr>
              <a:t>mypage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D57B89-9563-B965-47F4-899EF9A4EAB3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21A006-196D-F3E1-A039-110E086E56DB}"/>
              </a:ext>
            </a:extLst>
          </p:cNvPr>
          <p:cNvSpPr/>
          <p:nvPr/>
        </p:nvSpPr>
        <p:spPr>
          <a:xfrm>
            <a:off x="592428" y="1712699"/>
            <a:ext cx="8683579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16C57B-15C1-240A-CD32-62760F4B1898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FB94A3-30B8-DEA1-C9BD-D871BBE58F45}"/>
              </a:ext>
            </a:extLst>
          </p:cNvPr>
          <p:cNvSpPr/>
          <p:nvPr/>
        </p:nvSpPr>
        <p:spPr>
          <a:xfrm>
            <a:off x="550570" y="2395661"/>
            <a:ext cx="8725437" cy="6779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프로필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누적 요약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8007EE-DB2F-15FB-FD35-F216475DC2DA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B59004-0C93-B91E-605B-8E05170ABB30}"/>
              </a:ext>
            </a:extLst>
          </p:cNvPr>
          <p:cNvSpPr/>
          <p:nvPr/>
        </p:nvSpPr>
        <p:spPr>
          <a:xfrm>
            <a:off x="550570" y="316081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목표 </a:t>
            </a:r>
            <a:r>
              <a:rPr lang="en-US" altLang="ko-KR" dirty="0">
                <a:solidFill>
                  <a:schemeClr val="tx1"/>
                </a:solidFill>
              </a:rPr>
              <a:t>&amp; </a:t>
            </a:r>
            <a:r>
              <a:rPr lang="ko-KR" altLang="en-US" dirty="0">
                <a:solidFill>
                  <a:schemeClr val="tx1"/>
                </a:solidFill>
              </a:rPr>
              <a:t>진행도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9D19E1F-E853-6C1F-76C5-71DFAE810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649985"/>
              </p:ext>
            </p:extLst>
          </p:nvPr>
        </p:nvGraphicFramePr>
        <p:xfrm>
          <a:off x="9459531" y="932345"/>
          <a:ext cx="2620852" cy="5772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77007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13236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프로필 </a:t>
                      </a:r>
                      <a:r>
                        <a:rPr lang="en-US" altLang="ko-KR" sz="900" u="sng" dirty="0"/>
                        <a:t>+ </a:t>
                      </a:r>
                      <a:r>
                        <a:rPr lang="ko-KR" altLang="en-US" sz="900" u="sng" dirty="0"/>
                        <a:t>누적 요약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사용자 기본 정보 및 누적 운동 성과를 요약하는 영역이다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프로필 아이콘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서비스 이용 기간</a:t>
                      </a:r>
                      <a:r>
                        <a:rPr lang="en-US" altLang="ko-KR" sz="900" dirty="0"/>
                        <a:t>(30</a:t>
                      </a:r>
                      <a:r>
                        <a:rPr lang="ko-KR" altLang="en-US" sz="900" dirty="0"/>
                        <a:t>일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총 운동 횟수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연속 운동일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총 운동 시간을 카드 형태로 표시한다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77007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목표 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진행도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주간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월간 운동 목표 달성 현황을 </a:t>
                      </a:r>
                      <a:r>
                        <a:rPr lang="ko-KR" altLang="en-US" sz="900" dirty="0" err="1"/>
                        <a:t>프로그레스</a:t>
                      </a:r>
                      <a:r>
                        <a:rPr lang="ko-KR" altLang="en-US" sz="900" dirty="0"/>
                        <a:t> 바로 표시한다</a:t>
                      </a:r>
                      <a:r>
                        <a:rPr lang="en-US" altLang="ko-KR" sz="900" dirty="0"/>
                        <a:t>. 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2102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활동 요약 </a:t>
                      </a:r>
                      <a:r>
                        <a:rPr lang="en-US" altLang="ko-KR" sz="900" u="sng" dirty="0"/>
                        <a:t>&amp; </a:t>
                      </a:r>
                      <a:r>
                        <a:rPr lang="ko-KR" altLang="en-US" sz="900" u="sng" dirty="0"/>
                        <a:t>업적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날짜별 운동 기록을 최신순으로 나열한다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각 항목에는 </a:t>
                      </a:r>
                      <a:r>
                        <a:rPr lang="ko-KR" altLang="en-US" sz="900" u="none" dirty="0" err="1">
                          <a:solidFill>
                            <a:schemeClr val="tx1"/>
                          </a:solidFill>
                        </a:rPr>
                        <a:t>운동명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카테고리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운동 시간 정보가 포함되며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항목 클릭 시 해당 영상 상세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(/videos/:id)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77007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운동 기록 리스트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  <a:tr h="89480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045926"/>
                  </a:ext>
                </a:extLst>
              </a:tr>
            </a:tbl>
          </a:graphicData>
        </a:graphic>
      </p:graphicFrame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1A9E269-9C76-5621-B826-B800EE75D844}"/>
              </a:ext>
            </a:extLst>
          </p:cNvPr>
          <p:cNvSpPr/>
          <p:nvPr/>
        </p:nvSpPr>
        <p:spPr>
          <a:xfrm>
            <a:off x="542305" y="240455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D3EE2FA-C541-F00B-FA6E-2A044027CEE6}"/>
              </a:ext>
            </a:extLst>
          </p:cNvPr>
          <p:cNvSpPr/>
          <p:nvPr/>
        </p:nvSpPr>
        <p:spPr>
          <a:xfrm>
            <a:off x="550570" y="317912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894BCFA-8D88-A4AF-CAA2-F69FAD88D042}"/>
              </a:ext>
            </a:extLst>
          </p:cNvPr>
          <p:cNvSpPr/>
          <p:nvPr/>
        </p:nvSpPr>
        <p:spPr>
          <a:xfrm>
            <a:off x="550571" y="4650512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7BCC9-2673-EFC0-03DD-B2CBCBBAB049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20A7BA3-96FE-5704-AFEF-D263A5D9CCAB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78BD80-5457-E26F-8269-215505BAF745}"/>
              </a:ext>
            </a:extLst>
          </p:cNvPr>
          <p:cNvSpPr/>
          <p:nvPr/>
        </p:nvSpPr>
        <p:spPr>
          <a:xfrm>
            <a:off x="550571" y="3811157"/>
            <a:ext cx="8725437" cy="6758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활동 요약 및 업적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4643D53-DB5A-43C3-F7A1-18EEA5EABF99}"/>
              </a:ext>
            </a:extLst>
          </p:cNvPr>
          <p:cNvSpPr/>
          <p:nvPr/>
        </p:nvSpPr>
        <p:spPr>
          <a:xfrm>
            <a:off x="550570" y="3850459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8BD26B-59AC-5160-9EE1-4BCE7345CB81}"/>
              </a:ext>
            </a:extLst>
          </p:cNvPr>
          <p:cNvSpPr/>
          <p:nvPr/>
        </p:nvSpPr>
        <p:spPr>
          <a:xfrm>
            <a:off x="550571" y="4593759"/>
            <a:ext cx="8725437" cy="1395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운동 기록 리스트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6D4CE1-AB78-A061-505B-41EE0DD07EB3}"/>
              </a:ext>
            </a:extLst>
          </p:cNvPr>
          <p:cNvSpPr/>
          <p:nvPr/>
        </p:nvSpPr>
        <p:spPr>
          <a:xfrm>
            <a:off x="550570" y="608907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113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B2D2-DE6C-69D4-1462-78C0D541F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53EB128-205D-2745-5291-456B6BC72FEE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  </a:t>
            </a:r>
            <a:r>
              <a:rPr lang="ko-KR" altLang="en-US" dirty="0">
                <a:solidFill>
                  <a:schemeClr val="tx1"/>
                </a:solidFill>
              </a:rPr>
              <a:t> 추천 페이지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0132FE-B13E-3FA7-7BCA-C24568AAECEB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RECOMMEND-001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FB5431-37E7-DDFA-648D-684DE97D5756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/recommend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35027E-6441-F4F7-5629-BC1631421BE1}"/>
              </a:ext>
            </a:extLst>
          </p:cNvPr>
          <p:cNvSpPr/>
          <p:nvPr/>
        </p:nvSpPr>
        <p:spPr>
          <a:xfrm>
            <a:off x="486762" y="1645178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4D971D-3A1B-FE03-49EE-EE80ACE362B8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44A894A-42FA-3A24-1A87-483D36BE1EF9}"/>
              </a:ext>
            </a:extLst>
          </p:cNvPr>
          <p:cNvSpPr/>
          <p:nvPr/>
        </p:nvSpPr>
        <p:spPr>
          <a:xfrm>
            <a:off x="592428" y="1712699"/>
            <a:ext cx="8725437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FCCE64-0F5D-47F7-9826-D1115BFB0D88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A3F938-120E-52F2-5545-F5475ABA7AA8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C12C76-2690-78C7-1DF0-D390E6D0B675}"/>
              </a:ext>
            </a:extLst>
          </p:cNvPr>
          <p:cNvSpPr/>
          <p:nvPr/>
        </p:nvSpPr>
        <p:spPr>
          <a:xfrm>
            <a:off x="592428" y="2395661"/>
            <a:ext cx="8725437" cy="1249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69271C8-A7EF-F9D9-D09F-EC4684A52A67}"/>
              </a:ext>
            </a:extLst>
          </p:cNvPr>
          <p:cNvSpPr/>
          <p:nvPr/>
        </p:nvSpPr>
        <p:spPr>
          <a:xfrm>
            <a:off x="701898" y="2509818"/>
            <a:ext cx="3052294" cy="4330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맞춤 추천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D5071AF-90FB-988E-AAF8-BB9A9448A2E6}"/>
              </a:ext>
            </a:extLst>
          </p:cNvPr>
          <p:cNvSpPr/>
          <p:nvPr/>
        </p:nvSpPr>
        <p:spPr>
          <a:xfrm>
            <a:off x="808148" y="3004045"/>
            <a:ext cx="2620851" cy="579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평균 운동 시간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9B36C9-DA61-F643-CF3B-6832E272E940}"/>
              </a:ext>
            </a:extLst>
          </p:cNvPr>
          <p:cNvSpPr/>
          <p:nvPr/>
        </p:nvSpPr>
        <p:spPr>
          <a:xfrm>
            <a:off x="3644719" y="3004045"/>
            <a:ext cx="2620851" cy="579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선호 난이도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50E77A-313F-974C-DA04-ECFCB41EF0AC}"/>
              </a:ext>
            </a:extLst>
          </p:cNvPr>
          <p:cNvSpPr/>
          <p:nvPr/>
        </p:nvSpPr>
        <p:spPr>
          <a:xfrm>
            <a:off x="6481290" y="3004045"/>
            <a:ext cx="2620851" cy="579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부위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54CC63-CE2B-AB4F-6BE4-53B57BC6741D}"/>
              </a:ext>
            </a:extLst>
          </p:cNvPr>
          <p:cNvSpPr/>
          <p:nvPr/>
        </p:nvSpPr>
        <p:spPr>
          <a:xfrm>
            <a:off x="550571" y="3745217"/>
            <a:ext cx="8725437" cy="9832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 </a:t>
            </a:r>
            <a:r>
              <a:rPr lang="ko-KR" altLang="en-US" dirty="0">
                <a:solidFill>
                  <a:schemeClr val="tx1"/>
                </a:solidFill>
              </a:rPr>
              <a:t>추천 운동 </a:t>
            </a:r>
            <a:r>
              <a:rPr lang="en-US" altLang="ko-KR" dirty="0" err="1">
                <a:solidFill>
                  <a:schemeClr val="tx1"/>
                </a:solidFill>
              </a:rPr>
              <a:t>VideoList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+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VideoListItem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2A6ED8-F6F4-52F1-33A9-3E6C07CE4DAF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AD51CB-12BD-ABFA-697F-50385D153F60}"/>
              </a:ext>
            </a:extLst>
          </p:cNvPr>
          <p:cNvSpPr/>
          <p:nvPr/>
        </p:nvSpPr>
        <p:spPr>
          <a:xfrm>
            <a:off x="534685" y="4833972"/>
            <a:ext cx="8725437" cy="1042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인기 운동 </a:t>
            </a:r>
            <a:r>
              <a:rPr lang="en-US" altLang="ko-KR" dirty="0" err="1">
                <a:solidFill>
                  <a:schemeClr val="tx1"/>
                </a:solidFill>
              </a:rPr>
              <a:t>VideoList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+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VideoListItem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6CE75F3-84DB-0057-745E-53C81F530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935649"/>
              </p:ext>
            </p:extLst>
          </p:nvPr>
        </p:nvGraphicFramePr>
        <p:xfrm>
          <a:off x="9459531" y="932344"/>
          <a:ext cx="2620852" cy="5738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1054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홈트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FIT)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11594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맞춤 추천 요약 배너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최근 운동 기록을 기반으로 추천 안내 문구와 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개의 정보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평균 운동 시간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선호 난이도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주요 부위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를 표시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퍼플 배너 전체가 “개인 운동 분석 </a:t>
                      </a:r>
                      <a:r>
                        <a:rPr lang="ko-KR" altLang="en-US" sz="900" u="none" dirty="0" err="1">
                          <a:solidFill>
                            <a:schemeClr val="tx1"/>
                          </a:solidFill>
                        </a:rPr>
                        <a:t>페이지”로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 확장 가능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13107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u="sng" dirty="0"/>
                        <a:t>AI </a:t>
                      </a:r>
                      <a:r>
                        <a:rPr lang="ko-KR" altLang="en-US" sz="900" u="sng" dirty="0"/>
                        <a:t>추천 운동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추천 운동 묶음에 대한 설명 문구 제공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예</a:t>
                      </a:r>
                      <a:r>
                        <a:rPr lang="en-US" altLang="ko-KR" sz="900" dirty="0"/>
                        <a:t>: “</a:t>
                      </a:r>
                      <a:r>
                        <a:rPr lang="ko-KR" altLang="en-US" sz="900" dirty="0"/>
                        <a:t>당신의 운동 기록과 선호도를 분석한 맞춤 추천입니다</a:t>
                      </a:r>
                      <a:r>
                        <a:rPr lang="en-US" altLang="ko-KR" sz="900" dirty="0"/>
                        <a:t>.”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썸네일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난이도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초급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중급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고급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제목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강사명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조회수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영상 길이 표시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카드 클릭 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/videos/:id</a:t>
                      </a:r>
                      <a:r>
                        <a:rPr lang="ko-KR" altLang="en-US" sz="900" dirty="0"/>
                        <a:t>로 이동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1594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인기 있는 운동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사용자 전체 기준 가장 인기 많은 운동을 소개하는 섹션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간단한 서브 텍스트 포함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인기 운동 영상 카드 목록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로직만 “전체 인기 데이터 기준” 사용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64279"/>
                  </a:ext>
                </a:extLst>
              </a:tr>
              <a:tr h="1054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홈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추천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그룹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플레이리스트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프로필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현재 활성 탭은 ‘추천’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클릭 시 해당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</a:tbl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7E172D-E231-D97B-5B76-EB374296E6B9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F8AAC3-CBD1-B40F-2E73-6C1C1E864B57}"/>
              </a:ext>
            </a:extLst>
          </p:cNvPr>
          <p:cNvSpPr/>
          <p:nvPr/>
        </p:nvSpPr>
        <p:spPr>
          <a:xfrm>
            <a:off x="550571" y="2298416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FD50FD8-E236-FB73-8385-4851BB12D73F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024F324-ED85-02E2-3B76-6C4B11CC3FB9}"/>
              </a:ext>
            </a:extLst>
          </p:cNvPr>
          <p:cNvSpPr/>
          <p:nvPr/>
        </p:nvSpPr>
        <p:spPr>
          <a:xfrm>
            <a:off x="550571" y="3742874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59E4EDC-934B-27EB-0B6C-C95F119E38F9}"/>
              </a:ext>
            </a:extLst>
          </p:cNvPr>
          <p:cNvSpPr/>
          <p:nvPr/>
        </p:nvSpPr>
        <p:spPr>
          <a:xfrm>
            <a:off x="550571" y="491384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1890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B928-6CAB-A353-04FE-8EF6713D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89BB9F6-020E-C983-135D-58B1AE7545B3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 	</a:t>
            </a:r>
            <a:r>
              <a:rPr lang="ko-KR" altLang="en-US" dirty="0">
                <a:solidFill>
                  <a:schemeClr val="tx1"/>
                </a:solidFill>
              </a:rPr>
              <a:t>운동 그룹 </a:t>
            </a: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 err="1">
                <a:solidFill>
                  <a:schemeClr val="tx1"/>
                </a:solidFill>
              </a:rPr>
              <a:t>피드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0E75F0-567D-493D-5597-5082D33C54ED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GROUP-001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502A00-4A52-1B65-7D69-A271E03E675B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/groups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B1B95D7-DDF6-FD2B-9CA2-4BDB08EA933E}"/>
              </a:ext>
            </a:extLst>
          </p:cNvPr>
          <p:cNvSpPr/>
          <p:nvPr/>
        </p:nvSpPr>
        <p:spPr>
          <a:xfrm>
            <a:off x="519545" y="1645180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38D58E-B327-9892-526B-74A90D701D29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EC8AFB-E87E-2BAF-1A9C-33DA7289BBEC}"/>
              </a:ext>
            </a:extLst>
          </p:cNvPr>
          <p:cNvSpPr/>
          <p:nvPr/>
        </p:nvSpPr>
        <p:spPr>
          <a:xfrm>
            <a:off x="592428" y="1712699"/>
            <a:ext cx="8725437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AC6603-20CF-A32A-A4E0-5D7509173349}"/>
              </a:ext>
            </a:extLst>
          </p:cNvPr>
          <p:cNvSpPr/>
          <p:nvPr/>
        </p:nvSpPr>
        <p:spPr>
          <a:xfrm>
            <a:off x="728352" y="2450313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운동 그룹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33995D-3FCD-B762-AB70-A0B506519A26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5D0536-79E5-A491-46D9-6D40559D2436}"/>
              </a:ext>
            </a:extLst>
          </p:cNvPr>
          <p:cNvSpPr/>
          <p:nvPr/>
        </p:nvSpPr>
        <p:spPr>
          <a:xfrm>
            <a:off x="592428" y="2395661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DD59F4-992D-19FA-A6C5-098D179B48B7}"/>
              </a:ext>
            </a:extLst>
          </p:cNvPr>
          <p:cNvSpPr/>
          <p:nvPr/>
        </p:nvSpPr>
        <p:spPr>
          <a:xfrm>
            <a:off x="592428" y="3022404"/>
            <a:ext cx="8725437" cy="352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 탭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피드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내 그룹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24339C8-0D4B-97C5-36C0-7A27553B7737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18C7DE-5A70-FACB-6C76-82A132D17DCB}"/>
              </a:ext>
            </a:extLst>
          </p:cNvPr>
          <p:cNvSpPr/>
          <p:nvPr/>
        </p:nvSpPr>
        <p:spPr>
          <a:xfrm>
            <a:off x="592428" y="3470381"/>
            <a:ext cx="8725437" cy="352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글쓰기 영역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텍스트 입력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사진 추가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게시 버튼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0C7CEF3-A8C3-4F83-13C4-DF17A422E760}"/>
              </a:ext>
            </a:extLst>
          </p:cNvPr>
          <p:cNvSpPr/>
          <p:nvPr/>
        </p:nvSpPr>
        <p:spPr>
          <a:xfrm>
            <a:off x="550571" y="3918358"/>
            <a:ext cx="8725437" cy="2082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FeedList</a:t>
            </a:r>
            <a:r>
              <a:rPr lang="en-US" altLang="ko-KR" dirty="0">
                <a:solidFill>
                  <a:schemeClr val="tx1"/>
                </a:solidFill>
              </a:rPr>
              <a:t> + </a:t>
            </a:r>
            <a:r>
              <a:rPr lang="en-US" altLang="ko-KR" dirty="0" err="1">
                <a:solidFill>
                  <a:schemeClr val="tx1"/>
                </a:solidFill>
              </a:rPr>
              <a:t>FeedListItem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0D8F019-8E07-AEFE-A984-9DFABD631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303825"/>
              </p:ext>
            </p:extLst>
          </p:nvPr>
        </p:nvGraphicFramePr>
        <p:xfrm>
          <a:off x="9459531" y="932344"/>
          <a:ext cx="2620852" cy="5738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홈트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FIT)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타이틀 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그룹 만들기 버튼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상단에 “운동 그룹” 텍스트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우측에 </a:t>
                      </a:r>
                      <a:r>
                        <a:rPr lang="en-US" altLang="ko-KR" sz="900" dirty="0"/>
                        <a:t>[+ </a:t>
                      </a:r>
                      <a:r>
                        <a:rPr lang="ko-KR" altLang="en-US" sz="900" dirty="0"/>
                        <a:t>그룹 만들기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 노출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클릭 시 그룹 생성 화면으로 이동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그룹 탭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900" u="none" dirty="0" err="1">
                          <a:solidFill>
                            <a:schemeClr val="tx1"/>
                          </a:solidFill>
                        </a:rPr>
                        <a:t>피드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내 그룹” 탭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현재 활성 탭은 “</a:t>
                      </a:r>
                      <a:r>
                        <a:rPr lang="ko-KR" altLang="en-US" sz="900" u="none" dirty="0" err="1">
                          <a:solidFill>
                            <a:schemeClr val="tx1"/>
                          </a:solidFill>
                        </a:rPr>
                        <a:t>피드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탭을 클릭하면 </a:t>
                      </a:r>
                      <a:r>
                        <a:rPr lang="en-US" altLang="ko-KR" sz="900" u="none" dirty="0" err="1">
                          <a:solidFill>
                            <a:schemeClr val="tx1"/>
                          </a:solidFill>
                        </a:rPr>
                        <a:t>activeTab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변경</a:t>
                      </a:r>
                      <a:endParaRPr lang="en-US" altLang="ko-KR" sz="9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글쓰기 영역 </a:t>
                      </a:r>
                      <a:r>
                        <a:rPr lang="en-US" altLang="ko-KR" sz="900" u="sng" dirty="0"/>
                        <a:t>(</a:t>
                      </a:r>
                      <a:r>
                        <a:rPr lang="ko-KR" altLang="en-US" sz="900" u="sng" dirty="0"/>
                        <a:t>포스트 입력</a:t>
                      </a:r>
                      <a:r>
                        <a:rPr lang="en-US" altLang="ko-KR" sz="900" u="sng" dirty="0"/>
                        <a:t>)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사용자 프로필 아이콘 </a:t>
                      </a:r>
                      <a:r>
                        <a:rPr lang="en-US" altLang="ko-KR" sz="900" dirty="0"/>
                        <a:t>+ </a:t>
                      </a:r>
                      <a:r>
                        <a:rPr lang="ko-KR" altLang="en-US" sz="900" dirty="0"/>
                        <a:t>한 줄 </a:t>
                      </a:r>
                      <a:r>
                        <a:rPr lang="ko-KR" altLang="en-US" sz="900" dirty="0" err="1"/>
                        <a:t>입력창</a:t>
                      </a:r>
                      <a:r>
                        <a:rPr lang="en-US" altLang="ko-KR" sz="900" dirty="0"/>
                        <a:t>: “</a:t>
                      </a:r>
                      <a:r>
                        <a:rPr lang="ko-KR" altLang="en-US" sz="900" dirty="0"/>
                        <a:t>오늘의 운동을 인증해보세요</a:t>
                      </a:r>
                      <a:r>
                        <a:rPr lang="en-US" altLang="ko-KR" sz="900" dirty="0"/>
                        <a:t>!</a:t>
                      </a:r>
                      <a:r>
                        <a:rPr lang="ko-KR" altLang="en-US" sz="900" dirty="0"/>
                        <a:t>”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하단에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사진 추가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버튼과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게시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게시 클릭 시 새 </a:t>
                      </a:r>
                      <a:r>
                        <a:rPr lang="ko-KR" altLang="en-US" sz="900" dirty="0" err="1"/>
                        <a:t>피드</a:t>
                      </a:r>
                      <a:r>
                        <a:rPr lang="ko-KR" altLang="en-US" sz="900" dirty="0"/>
                        <a:t> 등록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64279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 err="1">
                          <a:solidFill>
                            <a:schemeClr val="tx1"/>
                          </a:solidFill>
                        </a:rPr>
                        <a:t>피드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 리스트 영역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최신 순으로 </a:t>
                      </a:r>
                      <a:r>
                        <a:rPr lang="ko-KR" altLang="en-US" sz="900" dirty="0" err="1"/>
                        <a:t>피드</a:t>
                      </a:r>
                      <a:r>
                        <a:rPr lang="ko-KR" altLang="en-US" sz="900" dirty="0"/>
                        <a:t> 카드들을 세로로 나열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스크롤 가능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각 카드마다 작성자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그룹명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시간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내용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이미지 정보 포함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9564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2348B8B-0D25-27B7-8322-53FE438B9317}"/>
              </a:ext>
            </a:extLst>
          </p:cNvPr>
          <p:cNvSpPr/>
          <p:nvPr/>
        </p:nvSpPr>
        <p:spPr>
          <a:xfrm>
            <a:off x="550571" y="2298416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A22E730-70C3-CB16-FEB7-C6F6E20D89CB}"/>
              </a:ext>
            </a:extLst>
          </p:cNvPr>
          <p:cNvSpPr/>
          <p:nvPr/>
        </p:nvSpPr>
        <p:spPr>
          <a:xfrm>
            <a:off x="550571" y="302240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6A21CD0-025C-324B-9D87-1BA496B21960}"/>
              </a:ext>
            </a:extLst>
          </p:cNvPr>
          <p:cNvSpPr/>
          <p:nvPr/>
        </p:nvSpPr>
        <p:spPr>
          <a:xfrm>
            <a:off x="550571" y="346180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C7F133C-A436-CCD3-E7EA-BE2962DC1B22}"/>
              </a:ext>
            </a:extLst>
          </p:cNvPr>
          <p:cNvSpPr/>
          <p:nvPr/>
        </p:nvSpPr>
        <p:spPr>
          <a:xfrm>
            <a:off x="550571" y="3980232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D1BFA74-E978-AEBD-5F57-96BC3956ECE7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4D46A6-20D6-9D1F-8ACD-E68350567DBA}"/>
              </a:ext>
            </a:extLst>
          </p:cNvPr>
          <p:cNvSpPr/>
          <p:nvPr/>
        </p:nvSpPr>
        <p:spPr>
          <a:xfrm>
            <a:off x="7791717" y="2450313"/>
            <a:ext cx="148372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그룹 만들기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C920CB-84CD-B1F1-9877-9C53EB7CDA41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3918D6A-4D09-F39A-0410-45A0A554928C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05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D974D-1C78-C5DA-AEB6-F4548A97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80FB2C-3111-40CD-0819-A21230067B05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 	</a:t>
            </a:r>
            <a:r>
              <a:rPr lang="ko-KR" altLang="en-US" dirty="0">
                <a:solidFill>
                  <a:schemeClr val="tx1"/>
                </a:solidFill>
              </a:rPr>
              <a:t>운동 그룹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내 그룹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248212-1D88-C19A-30B0-6AA679CFDA15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GROUP-002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1778AD-1722-899B-9FF9-F1E31EBF940E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/groups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20665E-A68C-34ED-4E30-A322F90423B1}"/>
              </a:ext>
            </a:extLst>
          </p:cNvPr>
          <p:cNvSpPr/>
          <p:nvPr/>
        </p:nvSpPr>
        <p:spPr>
          <a:xfrm>
            <a:off x="519545" y="1645180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43703E-2B68-5420-2CA9-284B61F3538E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5C94D1-25EE-3FA5-1656-4C666C0D444A}"/>
              </a:ext>
            </a:extLst>
          </p:cNvPr>
          <p:cNvSpPr/>
          <p:nvPr/>
        </p:nvSpPr>
        <p:spPr>
          <a:xfrm>
            <a:off x="592428" y="1712699"/>
            <a:ext cx="8725437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BBFE3F-C8BC-B289-A09C-8E97ED672357}"/>
              </a:ext>
            </a:extLst>
          </p:cNvPr>
          <p:cNvSpPr/>
          <p:nvPr/>
        </p:nvSpPr>
        <p:spPr>
          <a:xfrm>
            <a:off x="728352" y="2450313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운동 그룹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F5E287-BB01-1B8B-9198-BD263D983B54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DE0788-B323-80C8-1431-C5551B475862}"/>
              </a:ext>
            </a:extLst>
          </p:cNvPr>
          <p:cNvSpPr/>
          <p:nvPr/>
        </p:nvSpPr>
        <p:spPr>
          <a:xfrm>
            <a:off x="592428" y="2395661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7A91B6-05AA-A66B-D0A0-05027FD1AB55}"/>
              </a:ext>
            </a:extLst>
          </p:cNvPr>
          <p:cNvSpPr/>
          <p:nvPr/>
        </p:nvSpPr>
        <p:spPr>
          <a:xfrm>
            <a:off x="592428" y="3022404"/>
            <a:ext cx="8725437" cy="352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 탭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피드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내 그룹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37EC93-5A14-DA3A-7C8F-E4F4B5E0FA99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8370741-947A-A71E-F47F-FEEA766C40A9}"/>
              </a:ext>
            </a:extLst>
          </p:cNvPr>
          <p:cNvSpPr/>
          <p:nvPr/>
        </p:nvSpPr>
        <p:spPr>
          <a:xfrm>
            <a:off x="550571" y="3451415"/>
            <a:ext cx="8725437" cy="2548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GroupList</a:t>
            </a:r>
            <a:r>
              <a:rPr lang="en-US" altLang="ko-KR" dirty="0">
                <a:solidFill>
                  <a:schemeClr val="tx1"/>
                </a:solidFill>
              </a:rPr>
              <a:t> + </a:t>
            </a:r>
            <a:r>
              <a:rPr lang="en-US" altLang="ko-KR" dirty="0" err="1">
                <a:solidFill>
                  <a:schemeClr val="tx1"/>
                </a:solidFill>
              </a:rPr>
              <a:t>GroupListItem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BFC822C-EF0F-2FEB-978E-D8A221114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713168"/>
              </p:ext>
            </p:extLst>
          </p:nvPr>
        </p:nvGraphicFramePr>
        <p:xfrm>
          <a:off x="9459531" y="932344"/>
          <a:ext cx="2620852" cy="57389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10654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홈트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FIT)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10654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타이틀 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그룹 만들기 버튼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상단에 “운동 그룹” 텍스트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우측에 </a:t>
                      </a:r>
                      <a:r>
                        <a:rPr lang="en-US" altLang="ko-KR" sz="900" dirty="0"/>
                        <a:t>[+ </a:t>
                      </a:r>
                      <a:r>
                        <a:rPr lang="ko-KR" altLang="en-US" sz="900" dirty="0"/>
                        <a:t>그룹 만들기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 노출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클릭 시 그룹 생성 화면으로 이동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10654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그룹 탭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900" u="none" dirty="0" err="1">
                          <a:solidFill>
                            <a:schemeClr val="tx1"/>
                          </a:solidFill>
                        </a:rPr>
                        <a:t>피드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내 그룹” 탭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현재 활성 탭은 “내 그룹”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탭을 클릭하면 </a:t>
                      </a:r>
                      <a:r>
                        <a:rPr lang="en-US" altLang="ko-KR" sz="900" u="none" dirty="0" err="1">
                          <a:solidFill>
                            <a:schemeClr val="tx1"/>
                          </a:solidFill>
                        </a:rPr>
                        <a:t>activeTab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변경</a:t>
                      </a:r>
                      <a:endParaRPr lang="en-US" altLang="ko-KR" sz="9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4769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내 그룹 리스트 영역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사용자가 가입한 운동 그룹을 리스트 형태로 표시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각 항목은 </a:t>
                      </a:r>
                      <a:r>
                        <a:rPr lang="en-US" altLang="ko-KR" sz="900" dirty="0" err="1"/>
                        <a:t>GroupListItem</a:t>
                      </a:r>
                      <a:r>
                        <a:rPr lang="ko-KR" altLang="en-US" sz="900" dirty="0"/>
                        <a:t>으로 구성됨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 err="1"/>
                        <a:t>그룹명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설명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그룹 소개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멤버 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게시글 수 표시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우측 버튼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그룹 보기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클릭 시 그룹 상세 페이지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/groups/:id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로 이동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10654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CD55843-444E-363F-1251-4E1ECD815029}"/>
              </a:ext>
            </a:extLst>
          </p:cNvPr>
          <p:cNvSpPr/>
          <p:nvPr/>
        </p:nvSpPr>
        <p:spPr>
          <a:xfrm>
            <a:off x="550571" y="2298416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02ACE79-6653-8244-EE2F-F102EF19B21B}"/>
              </a:ext>
            </a:extLst>
          </p:cNvPr>
          <p:cNvSpPr/>
          <p:nvPr/>
        </p:nvSpPr>
        <p:spPr>
          <a:xfrm>
            <a:off x="550571" y="302240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2BA11A5-E078-14DB-0F15-1138920E04BA}"/>
              </a:ext>
            </a:extLst>
          </p:cNvPr>
          <p:cNvSpPr/>
          <p:nvPr/>
        </p:nvSpPr>
        <p:spPr>
          <a:xfrm>
            <a:off x="550571" y="3512141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71FBF81-16B7-2002-2D33-5E9F7F235202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DFF12C-4C89-949E-6205-FDCEA4D3B9D8}"/>
              </a:ext>
            </a:extLst>
          </p:cNvPr>
          <p:cNvSpPr/>
          <p:nvPr/>
        </p:nvSpPr>
        <p:spPr>
          <a:xfrm>
            <a:off x="7791717" y="2450313"/>
            <a:ext cx="148372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그룹 만들기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A2B35E-AD3D-C7C2-B226-8B7BDAF95B75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645EB28-F29B-21D4-43FE-EE62B292945E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89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3DEC-C519-3A55-91FA-DBEAC591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2A8850-4972-4760-9CBF-FAF03D6B4056}"/>
              </a:ext>
            </a:extLst>
          </p:cNvPr>
          <p:cNvSpPr/>
          <p:nvPr/>
        </p:nvSpPr>
        <p:spPr>
          <a:xfrm>
            <a:off x="507689" y="1645181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26786B-EAAC-640E-250F-CA9C71BADF53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 	</a:t>
            </a:r>
            <a:r>
              <a:rPr lang="ko-KR" altLang="en-US" dirty="0">
                <a:solidFill>
                  <a:schemeClr val="tx1"/>
                </a:solidFill>
              </a:rPr>
              <a:t>운동 그룹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그룹 만들기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54BFBF-8B61-521F-D62F-6C842EA716C8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GROUP-003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8106B0-D257-7003-811D-9B9FFF217671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/groups/new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9D146B-5BBA-D881-358D-C54F8BEBA0A6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96B99E-A5F4-FFFA-96F8-94FA1BC3DDCA}"/>
              </a:ext>
            </a:extLst>
          </p:cNvPr>
          <p:cNvSpPr/>
          <p:nvPr/>
        </p:nvSpPr>
        <p:spPr>
          <a:xfrm>
            <a:off x="592428" y="1712699"/>
            <a:ext cx="8683579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4418F3-171C-EA59-6A99-379FD35BAF18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36EC2E-79A3-D436-C952-F6924939A658}"/>
              </a:ext>
            </a:extLst>
          </p:cNvPr>
          <p:cNvSpPr/>
          <p:nvPr/>
        </p:nvSpPr>
        <p:spPr>
          <a:xfrm>
            <a:off x="550570" y="2395661"/>
            <a:ext cx="8725437" cy="13025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 기본 정보 입력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한줄</a:t>
            </a:r>
            <a:r>
              <a:rPr lang="ko-KR" altLang="en-US" dirty="0">
                <a:solidFill>
                  <a:schemeClr val="tx1"/>
                </a:solidFill>
              </a:rPr>
              <a:t> 소개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8EB3B1-A052-C6DC-C7CD-9679EFE5DDD1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D6B99A-BB2D-89E9-8694-6F2CC9F7D229}"/>
              </a:ext>
            </a:extLst>
          </p:cNvPr>
          <p:cNvSpPr/>
          <p:nvPr/>
        </p:nvSpPr>
        <p:spPr>
          <a:xfrm>
            <a:off x="550571" y="3782697"/>
            <a:ext cx="8725437" cy="13025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 소개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규칙 멀티라인 </a:t>
            </a:r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11C81D3-EC4E-664E-1515-A4FAEC26A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54653"/>
              </p:ext>
            </p:extLst>
          </p:nvPr>
        </p:nvGraphicFramePr>
        <p:xfrm>
          <a:off x="9459531" y="932344"/>
          <a:ext cx="2620852" cy="5646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1045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홈트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FIT)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1045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그룹 기본 정보 입력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/>
                        <a:t>그룹 이름 입력 필드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최대 </a:t>
                      </a:r>
                      <a:r>
                        <a:rPr lang="en-US" altLang="ko-KR" sz="900" b="0" dirty="0"/>
                        <a:t>20</a:t>
                      </a:r>
                      <a:r>
                        <a:rPr lang="ko-KR" altLang="en-US" sz="900" b="0" dirty="0"/>
                        <a:t>자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중복 허용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서버 검증 가능</a:t>
                      </a:r>
                      <a:r>
                        <a:rPr lang="en-US" altLang="ko-KR" sz="900" b="0" dirty="0"/>
                        <a:t>). </a:t>
                      </a:r>
                      <a:r>
                        <a:rPr lang="ko-KR" altLang="en-US" sz="900" b="0" dirty="0"/>
                        <a:t>한 줄 소개 입력 필드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그룹의 간단한 설명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최대 </a:t>
                      </a:r>
                      <a:r>
                        <a:rPr lang="en-US" altLang="ko-KR" sz="900" b="0" dirty="0"/>
                        <a:t>50</a:t>
                      </a:r>
                      <a:r>
                        <a:rPr lang="ko-KR" altLang="en-US" sz="900" b="0" dirty="0"/>
                        <a:t>자</a:t>
                      </a:r>
                      <a:r>
                        <a:rPr lang="en-US" altLang="ko-KR" sz="900" b="0" dirty="0"/>
                        <a:t>).</a:t>
                      </a:r>
                      <a:r>
                        <a:rPr lang="ko-KR" altLang="en-US" sz="900" b="0" dirty="0"/>
                        <a:t> 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1045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그룹 소개 및 규칙 입력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멀티라인 텍스트 영역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그룹의 상세 소개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참여 규칙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인증 방법 등을 자유롭게 작성할 수 있다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최대 글자 수</a:t>
                      </a:r>
                      <a:r>
                        <a:rPr lang="en-US" altLang="ko-KR" sz="900" dirty="0"/>
                        <a:t> 500</a:t>
                      </a:r>
                      <a:r>
                        <a:rPr lang="ko-KR" altLang="en-US" sz="900" dirty="0"/>
                        <a:t>자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제한</a:t>
                      </a:r>
                      <a:r>
                        <a:rPr lang="en-US" altLang="ko-KR" sz="900" dirty="0"/>
                        <a:t>. 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4498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하단 액션 버튼</a:t>
                      </a:r>
                      <a:endParaRPr lang="en-US" altLang="ko-KR" sz="9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/>
                        <a:t>폼 제출 영역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좌측 </a:t>
                      </a: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취소</a:t>
                      </a:r>
                      <a:r>
                        <a:rPr lang="en-US" altLang="ko-KR" sz="900" b="0" dirty="0"/>
                        <a:t>]</a:t>
                      </a:r>
                      <a:r>
                        <a:rPr lang="ko-KR" altLang="en-US" sz="900" b="0" dirty="0"/>
                        <a:t> 버튼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클릭 시 변경 내용 없이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/groups</a:t>
                      </a:r>
                      <a:r>
                        <a:rPr lang="ko-KR" altLang="en-US" sz="900" b="0" dirty="0"/>
                        <a:t>로 이동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우측 </a:t>
                      </a: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그룹 만들기</a:t>
                      </a:r>
                      <a:r>
                        <a:rPr lang="en-US" altLang="ko-KR" sz="900" b="0" dirty="0"/>
                        <a:t>]</a:t>
                      </a:r>
                      <a:r>
                        <a:rPr lang="ko-KR" altLang="en-US" sz="900" b="0" dirty="0"/>
                        <a:t> 버튼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필수 값이 모두 입력되었을 때만 활성화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클릭 시 유효성 검사를 수행하고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성공 시 그룹 생성 </a:t>
                      </a:r>
                      <a:r>
                        <a:rPr lang="en-US" altLang="ko-KR" sz="900" b="0" dirty="0"/>
                        <a:t>API </a:t>
                      </a:r>
                      <a:r>
                        <a:rPr lang="ko-KR" altLang="en-US" sz="900" b="0" dirty="0"/>
                        <a:t>호출 → 응답으로 받은 </a:t>
                      </a:r>
                      <a:r>
                        <a:rPr lang="en-US" altLang="ko-KR" sz="9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groupId</a:t>
                      </a:r>
                      <a:r>
                        <a:rPr lang="ko-KR" altLang="en-US" sz="900" b="0" dirty="0"/>
                        <a:t> 기준으로 그룹 상세 페이지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/groups/:</a:t>
                      </a:r>
                      <a:r>
                        <a:rPr lang="en-US" altLang="ko-KR" sz="9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groupId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로 이동한다</a:t>
                      </a:r>
                      <a:r>
                        <a:rPr lang="en-US" altLang="ko-KR" sz="900" b="0" dirty="0"/>
                        <a:t>. 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1045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5353A85-69FE-BB4D-CE92-68F3DCC3EA70}"/>
              </a:ext>
            </a:extLst>
          </p:cNvPr>
          <p:cNvSpPr/>
          <p:nvPr/>
        </p:nvSpPr>
        <p:spPr>
          <a:xfrm>
            <a:off x="542305" y="240455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61F9DEE-F8F0-6B39-D510-77A0AA252078}"/>
              </a:ext>
            </a:extLst>
          </p:cNvPr>
          <p:cNvSpPr/>
          <p:nvPr/>
        </p:nvSpPr>
        <p:spPr>
          <a:xfrm>
            <a:off x="550571" y="3782697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D7E0DE0-154C-7F00-35C8-3D3F124FE300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8D0B7F-2A5A-B0BB-B2A4-FD11A3F45DF0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3BF149E-097E-E2B4-43E8-0FE40BD60C11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EC0274-6D1F-57D7-81DE-A22A2E5B243B}"/>
              </a:ext>
            </a:extLst>
          </p:cNvPr>
          <p:cNvSpPr/>
          <p:nvPr/>
        </p:nvSpPr>
        <p:spPr>
          <a:xfrm>
            <a:off x="550571" y="5186917"/>
            <a:ext cx="8725437" cy="6891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취소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그룹 만들기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664A09-BBF1-775C-09AE-E7C52AB572FE}"/>
              </a:ext>
            </a:extLst>
          </p:cNvPr>
          <p:cNvSpPr/>
          <p:nvPr/>
        </p:nvSpPr>
        <p:spPr>
          <a:xfrm>
            <a:off x="550571" y="520717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552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AA51-163D-9D91-0694-9D9101E47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2AD651-B0F3-0918-F741-07365F2882DD}"/>
              </a:ext>
            </a:extLst>
          </p:cNvPr>
          <p:cNvSpPr/>
          <p:nvPr/>
        </p:nvSpPr>
        <p:spPr>
          <a:xfrm>
            <a:off x="519545" y="1645180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CB0C10-B976-33D5-1C98-E0F4A6A655AA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 	</a:t>
            </a:r>
            <a:r>
              <a:rPr lang="ko-KR" altLang="en-US" dirty="0">
                <a:solidFill>
                  <a:schemeClr val="tx1"/>
                </a:solidFill>
              </a:rPr>
              <a:t>운동 그룹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 err="1">
                <a:solidFill>
                  <a:schemeClr val="tx1"/>
                </a:solidFill>
              </a:rPr>
              <a:t>피드</a:t>
            </a:r>
            <a:r>
              <a:rPr lang="ko-KR" altLang="en-US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FF046F-743C-C975-7E3A-3F57E7E2C2F9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GROUP-005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8D8D70-07D3-8FCB-C228-CD5191F4B4FB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/groups/:</a:t>
            </a:r>
            <a:r>
              <a:rPr lang="en-US" altLang="ko-KR" dirty="0" err="1">
                <a:solidFill>
                  <a:schemeClr val="tx1"/>
                </a:solidFill>
              </a:rPr>
              <a:t>groupID</a:t>
            </a:r>
            <a:r>
              <a:rPr lang="en-US" altLang="ko-KR" dirty="0">
                <a:solidFill>
                  <a:schemeClr val="tx1"/>
                </a:solidFill>
              </a:rPr>
              <a:t>/posts/:</a:t>
            </a:r>
            <a:r>
              <a:rPr lang="en-US" altLang="ko-KR" dirty="0" err="1">
                <a:solidFill>
                  <a:schemeClr val="tx1"/>
                </a:solidFill>
              </a:rPr>
              <a:t>postId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ED5798-C90A-3973-F573-7578657DCDD4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0473D3-E5CB-83BC-14E3-0BBCABFC066C}"/>
              </a:ext>
            </a:extLst>
          </p:cNvPr>
          <p:cNvSpPr/>
          <p:nvPr/>
        </p:nvSpPr>
        <p:spPr>
          <a:xfrm>
            <a:off x="592428" y="1712699"/>
            <a:ext cx="8683579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B1496A-0775-9E1D-9663-92DD6B348C60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7F2F2E-2FBE-77CB-D62A-78F9B5348E0E}"/>
              </a:ext>
            </a:extLst>
          </p:cNvPr>
          <p:cNvSpPr/>
          <p:nvPr/>
        </p:nvSpPr>
        <p:spPr>
          <a:xfrm>
            <a:off x="550570" y="2395661"/>
            <a:ext cx="8725437" cy="6779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프로필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닉네임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그룹명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작성시간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B15F33-FD86-A7FB-C444-F77528321809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2206DA-B7EE-4811-918F-820E163B5CCE}"/>
              </a:ext>
            </a:extLst>
          </p:cNvPr>
          <p:cNvSpPr/>
          <p:nvPr/>
        </p:nvSpPr>
        <p:spPr>
          <a:xfrm>
            <a:off x="550570" y="3160814"/>
            <a:ext cx="8725437" cy="1220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본문 텍스트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AD3EDAC-AB94-FFDE-B46C-6E22A9A6E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65412"/>
              </p:ext>
            </p:extLst>
          </p:nvPr>
        </p:nvGraphicFramePr>
        <p:xfrm>
          <a:off x="9459531" y="932345"/>
          <a:ext cx="2620852" cy="5738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91231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15681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작성자 정보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작성자 프로필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닉네임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그룹명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작성 시간 표시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91231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본문 </a:t>
                      </a:r>
                      <a:r>
                        <a:rPr lang="en-US" altLang="ko-KR" sz="900" u="sng" dirty="0"/>
                        <a:t>+ </a:t>
                      </a:r>
                      <a:r>
                        <a:rPr lang="ko-KR" altLang="en-US" sz="900" u="sng" dirty="0"/>
                        <a:t>이미지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 err="1"/>
                        <a:t>피드</a:t>
                      </a:r>
                      <a:r>
                        <a:rPr lang="ko-KR" altLang="en-US" sz="900" dirty="0"/>
                        <a:t> 텍스트와 인증 이미지 표시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사진 여러 장일 경우 슬라이드 형태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이미지가 없으면 텍스트만 노출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4337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댓글 리스트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댓글 목록 표시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작성자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내용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시간 포함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댓글 없으면 “첫 댓글을 </a:t>
                      </a:r>
                      <a:r>
                        <a:rPr lang="ko-KR" altLang="en-US" sz="900" u="none" dirty="0"/>
                        <a:t>남겨보세요” 문구 노출</a:t>
                      </a:r>
                      <a:r>
                        <a:rPr lang="en-US" altLang="ko-KR" sz="900" u="none" dirty="0"/>
                        <a:t>.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텍스트 입력 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등록 버튼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등록 클릭 시 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호출 후 리스트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(E)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갱신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u="none" dirty="0" err="1">
                          <a:solidFill>
                            <a:schemeClr val="tx1"/>
                          </a:solidFill>
                        </a:rPr>
                        <a:t>미입력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 시 비활성화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91231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70ACB8A-2FD9-B5F7-E5F4-EC2D5F50CA12}"/>
              </a:ext>
            </a:extLst>
          </p:cNvPr>
          <p:cNvSpPr/>
          <p:nvPr/>
        </p:nvSpPr>
        <p:spPr>
          <a:xfrm>
            <a:off x="542305" y="240455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37DE328-3218-2E59-2EDD-6EBB749A6ED4}"/>
              </a:ext>
            </a:extLst>
          </p:cNvPr>
          <p:cNvSpPr/>
          <p:nvPr/>
        </p:nvSpPr>
        <p:spPr>
          <a:xfrm>
            <a:off x="550570" y="317912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6DF49B0-9CC2-E446-0CDF-9049B6ECD739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698155-C71E-DCBB-2015-20556C59EC79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18FD003-3105-471D-68CD-43E6C3D7ABD6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870947-BE19-8FD0-CD1A-566676BFE03B}"/>
              </a:ext>
            </a:extLst>
          </p:cNvPr>
          <p:cNvSpPr/>
          <p:nvPr/>
        </p:nvSpPr>
        <p:spPr>
          <a:xfrm>
            <a:off x="550571" y="4486967"/>
            <a:ext cx="8725437" cy="13891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댓글 리스트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댓글 </a:t>
            </a:r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84E7A02-24DC-2A0A-2821-64F707EDA6D3}"/>
              </a:ext>
            </a:extLst>
          </p:cNvPr>
          <p:cNvSpPr/>
          <p:nvPr/>
        </p:nvSpPr>
        <p:spPr>
          <a:xfrm>
            <a:off x="550571" y="451287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266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F9E5-9E60-75BD-2C29-7DEE56EB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160AB08-8300-3EBB-91D4-B2F90D04B1D9}"/>
              </a:ext>
            </a:extLst>
          </p:cNvPr>
          <p:cNvSpPr/>
          <p:nvPr/>
        </p:nvSpPr>
        <p:spPr>
          <a:xfrm>
            <a:off x="519545" y="1645180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3DBDA3-0FAE-BD7A-9E8B-98E0BD3767DC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</a:t>
            </a:r>
            <a:r>
              <a:rPr lang="ko-KR" altLang="en-US" dirty="0">
                <a:solidFill>
                  <a:schemeClr val="tx1"/>
                </a:solidFill>
              </a:rPr>
              <a:t>운동 플레이리스트 메인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B2EECF-DC7C-7734-86C6-9B63859313DA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PLAYLIST-001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0C1AD6-4331-B9FE-F95E-7BDFBCC0A495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/playlists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EB1551-16AD-52D4-2450-D7BB48D68F03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506033-46CB-5D34-7A9B-979A1743AC25}"/>
              </a:ext>
            </a:extLst>
          </p:cNvPr>
          <p:cNvSpPr/>
          <p:nvPr/>
        </p:nvSpPr>
        <p:spPr>
          <a:xfrm>
            <a:off x="592428" y="1712699"/>
            <a:ext cx="8683579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48FE26-807D-953E-B85F-29289CC29AAA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2C5A03-8717-0274-7D7B-5AD9C9CDE43D}"/>
              </a:ext>
            </a:extLst>
          </p:cNvPr>
          <p:cNvSpPr/>
          <p:nvPr/>
        </p:nvSpPr>
        <p:spPr>
          <a:xfrm>
            <a:off x="550570" y="2395661"/>
            <a:ext cx="8725437" cy="6779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55F5EA-CF81-29CA-89B2-39920C056BF6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4A390E-EE66-B663-142A-915756638F4B}"/>
              </a:ext>
            </a:extLst>
          </p:cNvPr>
          <p:cNvSpPr/>
          <p:nvPr/>
        </p:nvSpPr>
        <p:spPr>
          <a:xfrm>
            <a:off x="550570" y="3160814"/>
            <a:ext cx="8725437" cy="3967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플레이리스트 탭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내 플레이리스트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공유 플레이리스트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FFC00F0-098D-059E-26AE-8068A66EE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121571"/>
              </p:ext>
            </p:extLst>
          </p:nvPr>
        </p:nvGraphicFramePr>
        <p:xfrm>
          <a:off x="9459531" y="932345"/>
          <a:ext cx="2620852" cy="58106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8862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15234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페이지 타이틀 </a:t>
                      </a:r>
                      <a:r>
                        <a:rPr lang="en-US" altLang="ko-KR" sz="900" u="sng" dirty="0"/>
                        <a:t>+ </a:t>
                      </a:r>
                      <a:r>
                        <a:rPr lang="ko-KR" altLang="en-US" sz="900" u="sng" dirty="0"/>
                        <a:t>생성 버튼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/>
                        <a:t>좌측의 </a:t>
                      </a:r>
                      <a:r>
                        <a:rPr lang="en-US" altLang="ko-KR" sz="900" b="0" dirty="0"/>
                        <a:t>"</a:t>
                      </a:r>
                      <a:r>
                        <a:rPr lang="ko-KR" altLang="en-US" sz="900" b="0" dirty="0"/>
                        <a:t>플레이리스트</a:t>
                      </a:r>
                      <a:r>
                        <a:rPr lang="en-US" altLang="ko-KR" sz="900" b="0" dirty="0"/>
                        <a:t>" </a:t>
                      </a:r>
                      <a:r>
                        <a:rPr lang="ko-KR" altLang="en-US" sz="900" b="0" dirty="0"/>
                        <a:t>제목 아래 전체 페이지 컨텍스트 제공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우측의 </a:t>
                      </a:r>
                      <a:r>
                        <a:rPr lang="en-US" altLang="ko-KR" sz="900" b="0" dirty="0"/>
                        <a:t>+ </a:t>
                      </a:r>
                      <a:r>
                        <a:rPr lang="ko-KR" altLang="en-US" sz="900" b="0" dirty="0"/>
                        <a:t>플레이리스트 만들기 버튼 클릭 시 생성 화면</a:t>
                      </a:r>
                      <a:r>
                        <a:rPr lang="en-US" altLang="ko-KR" sz="900" b="0" dirty="0"/>
                        <a:t>(PLAYLIST-NEW)</a:t>
                      </a:r>
                      <a:r>
                        <a:rPr lang="ko-KR" altLang="en-US" sz="900" b="0" dirty="0"/>
                        <a:t>으로 이동</a:t>
                      </a:r>
                      <a:r>
                        <a:rPr lang="en-US" altLang="ko-KR" sz="900" b="0" dirty="0"/>
                        <a:t>.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8883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탭 영역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“내 플레이리스트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공유 플레이리스트” 선택 탭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현재 활성 탭은 보라색 하이라이트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해당 목록으로 전환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5545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플레이리스트 리스트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사용자가 만든 플레이리스트 목록을 카드 형태로 세로 나열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길 경우 스크롤 가능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카드 개수 제한 없음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대표 썸네일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영상 개수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공개 상태 표시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플레이리스트 이름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소개문구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재생 버튼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첫 영상 재생 </a:t>
                      </a:r>
                      <a:r>
                        <a:rPr lang="en-US" altLang="ko-KR" sz="900" dirty="0"/>
                        <a:t>or </a:t>
                      </a:r>
                      <a:r>
                        <a:rPr lang="ko-KR" altLang="en-US" sz="900" dirty="0"/>
                        <a:t>전체 재생 페이지 이동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공유 버튼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삭제 </a:t>
                      </a:r>
                      <a:r>
                        <a:rPr lang="en-US" altLang="ko-KR" sz="900" dirty="0"/>
                        <a:t>or </a:t>
                      </a:r>
                      <a:r>
                        <a:rPr lang="ko-KR" altLang="en-US" sz="900" dirty="0"/>
                        <a:t>옵션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카드 전체 클릭 시 플레이리스트 상세</a:t>
                      </a:r>
                      <a:r>
                        <a:rPr lang="en-US" altLang="ko-KR" sz="900" dirty="0"/>
                        <a:t>(PLAYLIST-DETAIL)</a:t>
                      </a:r>
                      <a:r>
                        <a:rPr lang="ko-KR" altLang="en-US" sz="900" dirty="0"/>
                        <a:t>로 이동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8862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0321681-297F-AA35-F283-C1EB190F9C1B}"/>
              </a:ext>
            </a:extLst>
          </p:cNvPr>
          <p:cNvSpPr/>
          <p:nvPr/>
        </p:nvSpPr>
        <p:spPr>
          <a:xfrm>
            <a:off x="550570" y="317912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EF83C6B-2302-8933-AD56-84F2A709F052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AB2855-ECC4-E0E4-6E7E-099C35F60570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0954828-B8BE-75F6-207A-3A52C9746B97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1D0A6F-76E7-17E3-2DC5-18D10D0412D7}"/>
              </a:ext>
            </a:extLst>
          </p:cNvPr>
          <p:cNvSpPr/>
          <p:nvPr/>
        </p:nvSpPr>
        <p:spPr>
          <a:xfrm>
            <a:off x="550571" y="3694343"/>
            <a:ext cx="8725437" cy="21817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PlayList</a:t>
            </a:r>
            <a:r>
              <a:rPr lang="en-US" altLang="ko-KR" dirty="0">
                <a:solidFill>
                  <a:schemeClr val="tx1"/>
                </a:solidFill>
              </a:rPr>
              <a:t> + </a:t>
            </a:r>
            <a:r>
              <a:rPr lang="en-US" altLang="ko-KR" dirty="0" err="1">
                <a:solidFill>
                  <a:schemeClr val="tx1"/>
                </a:solidFill>
              </a:rPr>
              <a:t>PlayListItem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8232A1-0E0A-9807-9B6A-E2DFB4D1E946}"/>
              </a:ext>
            </a:extLst>
          </p:cNvPr>
          <p:cNvSpPr/>
          <p:nvPr/>
        </p:nvSpPr>
        <p:spPr>
          <a:xfrm>
            <a:off x="550570" y="373364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86B6BF-F494-C720-C759-A5F645C614B9}"/>
              </a:ext>
            </a:extLst>
          </p:cNvPr>
          <p:cNvSpPr/>
          <p:nvPr/>
        </p:nvSpPr>
        <p:spPr>
          <a:xfrm>
            <a:off x="701898" y="2512312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플레이리스트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D7CFD6-3EFD-DE90-7434-AE9B9EA2CD8A}"/>
              </a:ext>
            </a:extLst>
          </p:cNvPr>
          <p:cNvSpPr/>
          <p:nvPr/>
        </p:nvSpPr>
        <p:spPr>
          <a:xfrm>
            <a:off x="7791717" y="2512312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플레이 리스트 만들기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D23E2AF-60EF-20BA-F6FA-CAE7AD701903}"/>
              </a:ext>
            </a:extLst>
          </p:cNvPr>
          <p:cNvSpPr/>
          <p:nvPr/>
        </p:nvSpPr>
        <p:spPr>
          <a:xfrm>
            <a:off x="542305" y="240455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852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6CD6-741D-EC3E-38A2-225A0CD10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40E9E6C-3E0D-EDDD-AA78-40E66B34F749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</a:t>
            </a:r>
            <a:r>
              <a:rPr lang="ko-KR" altLang="en-US" dirty="0">
                <a:solidFill>
                  <a:schemeClr val="tx1"/>
                </a:solidFill>
              </a:rPr>
              <a:t>운동 플레이리스트 생성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B70095-5703-B11A-2AEC-B414EB97EACE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PLAYLIST-002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7E37A1-3EFC-8B7E-C624-AAC4D98DD0F6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/playlists/new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FAC67F-64F7-1AAC-74AE-E8AE3B52A3D8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5CF7804-494F-BC8E-D159-91E3F8E2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566008"/>
              </p:ext>
            </p:extLst>
          </p:nvPr>
        </p:nvGraphicFramePr>
        <p:xfrm>
          <a:off x="9459531" y="932346"/>
          <a:ext cx="2620852" cy="5767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8617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14813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>
                          <a:solidFill>
                            <a:schemeClr val="tx1"/>
                          </a:solidFill>
                        </a:rPr>
                        <a:t>기본 정보 입력</a:t>
                      </a:r>
                      <a:endParaRPr lang="en-US" altLang="ko-KR" sz="900" u="sng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/>
                        <a:t>필수 정보 영역</a:t>
                      </a:r>
                      <a:r>
                        <a:rPr lang="en-US" altLang="ko-KR" sz="900" b="0"/>
                        <a:t>. </a:t>
                      </a:r>
                      <a:r>
                        <a:rPr lang="ko-KR" altLang="en-US" sz="900" b="0"/>
                        <a:t>플레이리스트 이름 입력 필드</a:t>
                      </a:r>
                      <a:r>
                        <a:rPr lang="en-US" altLang="ko-KR" sz="900" b="0"/>
                        <a:t>: </a:t>
                      </a:r>
                      <a:r>
                        <a:rPr lang="ko-KR" altLang="en-US" sz="900" b="0"/>
                        <a:t>한 줄 설명 입력 필드</a:t>
                      </a:r>
                      <a:r>
                        <a:rPr lang="en-US" altLang="ko-KR" sz="900" b="0"/>
                        <a:t>: </a:t>
                      </a:r>
                      <a:r>
                        <a:rPr lang="ko-KR" altLang="en-US" sz="900" b="0"/>
                        <a:t>플레이리스트 소개 문구</a:t>
                      </a:r>
                      <a:r>
                        <a:rPr lang="en-US" altLang="ko-KR" sz="900" b="0"/>
                        <a:t>.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10224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영상 추가 </a:t>
                      </a:r>
                      <a:r>
                        <a:rPr lang="en-US" altLang="ko-KR" sz="900" u="sng" dirty="0"/>
                        <a:t>&amp; </a:t>
                      </a:r>
                      <a:r>
                        <a:rPr lang="ko-KR" altLang="en-US" sz="900" u="sng" dirty="0"/>
                        <a:t>목록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/>
                        <a:t>플레이리스트에 포함될 영상을 선택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관리하는 영역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상단의 </a:t>
                      </a:r>
                      <a:r>
                        <a:rPr lang="en-US" altLang="ko-KR" sz="900" b="0" dirty="0"/>
                        <a:t>[+ </a:t>
                      </a:r>
                      <a:r>
                        <a:rPr lang="ko-KR" altLang="en-US" sz="900" b="0" dirty="0"/>
                        <a:t>영상 추가</a:t>
                      </a:r>
                      <a:r>
                        <a:rPr lang="en-US" altLang="ko-KR" sz="900" b="0" dirty="0"/>
                        <a:t>] </a:t>
                      </a:r>
                      <a:r>
                        <a:rPr lang="ko-KR" altLang="en-US" sz="900" b="0" dirty="0"/>
                        <a:t>버튼 클릭 시 </a:t>
                      </a:r>
                      <a:r>
                        <a:rPr lang="ko-KR" altLang="en-US" sz="900" b="0" dirty="0" err="1"/>
                        <a:t>검색창</a:t>
                      </a:r>
                      <a:r>
                        <a:rPr lang="ko-KR" altLang="en-US" sz="900" b="0" dirty="0"/>
                        <a:t> 활성화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이미 추가된 영상은 간단한 리스트 형태로 아래에 나열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5115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플레이리스트 리스트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/>
                        <a:t>폼 제출 영역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좌측 </a:t>
                      </a: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취소</a:t>
                      </a:r>
                      <a:r>
                        <a:rPr lang="en-US" altLang="ko-KR" sz="900" b="0" dirty="0"/>
                        <a:t>]</a:t>
                      </a:r>
                      <a:r>
                        <a:rPr lang="ko-KR" altLang="en-US" sz="900" b="0" dirty="0"/>
                        <a:t> 버튼 클릭 시 변경 내용 없이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/playlists</a:t>
                      </a:r>
                      <a:r>
                        <a:rPr lang="ko-KR" altLang="en-US" sz="900" b="0" dirty="0"/>
                        <a:t>로 이동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우측 </a:t>
                      </a: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플레이리스트 만들기</a:t>
                      </a:r>
                      <a:r>
                        <a:rPr lang="en-US" altLang="ko-KR" sz="900" b="0" dirty="0"/>
                        <a:t>]</a:t>
                      </a:r>
                      <a:r>
                        <a:rPr lang="ko-KR" altLang="en-US" sz="900" b="0" dirty="0"/>
                        <a:t> 버튼은 필수 값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이름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최소 </a:t>
                      </a:r>
                      <a:r>
                        <a:rPr lang="en-US" altLang="ko-KR" sz="900" b="0" dirty="0"/>
                        <a:t>1</a:t>
                      </a:r>
                      <a:r>
                        <a:rPr lang="ko-KR" altLang="en-US" sz="900" b="0" dirty="0"/>
                        <a:t>개 영상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이 모두 채워졌을 때만 활성화된다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클릭 시 해당 플레이리스트 상세 화면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/playlists/:</a:t>
                      </a:r>
                      <a:r>
                        <a:rPr lang="en-US" altLang="ko-KR" sz="9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playlistId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으로 이동</a:t>
                      </a:r>
                      <a:r>
                        <a:rPr lang="en-US" altLang="ko-KR" sz="900" b="0" dirty="0"/>
                        <a:t>.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8617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1B6C14-FFFF-44DE-6BC9-9586F2FDA1F8}"/>
              </a:ext>
            </a:extLst>
          </p:cNvPr>
          <p:cNvSpPr/>
          <p:nvPr/>
        </p:nvSpPr>
        <p:spPr>
          <a:xfrm>
            <a:off x="507689" y="1645181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C2F32A-7493-8607-DCDB-5DE65B595BF6}"/>
              </a:ext>
            </a:extLst>
          </p:cNvPr>
          <p:cNvSpPr/>
          <p:nvPr/>
        </p:nvSpPr>
        <p:spPr>
          <a:xfrm>
            <a:off x="592428" y="1712699"/>
            <a:ext cx="8683579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1F34D5-9064-9350-9271-E6E7FE5B44FA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6B73A2-60BA-4C0E-7E27-38E983A65093}"/>
              </a:ext>
            </a:extLst>
          </p:cNvPr>
          <p:cNvSpPr/>
          <p:nvPr/>
        </p:nvSpPr>
        <p:spPr>
          <a:xfrm>
            <a:off x="550570" y="2395661"/>
            <a:ext cx="8725437" cy="13025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플레이리스트 기본 정보 입력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한줄</a:t>
            </a:r>
            <a:r>
              <a:rPr lang="ko-KR" altLang="en-US" dirty="0">
                <a:solidFill>
                  <a:schemeClr val="tx1"/>
                </a:solidFill>
              </a:rPr>
              <a:t> 설명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4BB0C1-C33C-C39D-03E5-6DE049BF41F7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AAC5FC-F09B-97A4-BBEF-657F34C1FCA3}"/>
              </a:ext>
            </a:extLst>
          </p:cNvPr>
          <p:cNvSpPr/>
          <p:nvPr/>
        </p:nvSpPr>
        <p:spPr>
          <a:xfrm>
            <a:off x="550571" y="3782697"/>
            <a:ext cx="8725437" cy="13025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영상 추가 버튼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검색창</a:t>
            </a:r>
            <a:r>
              <a:rPr lang="ko-KR" altLang="en-US" dirty="0">
                <a:solidFill>
                  <a:schemeClr val="tx1"/>
                </a:solidFill>
              </a:rPr>
              <a:t> 활성화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&amp; </a:t>
            </a:r>
            <a:r>
              <a:rPr lang="ko-KR" altLang="en-US" dirty="0">
                <a:solidFill>
                  <a:schemeClr val="tx1"/>
                </a:solidFill>
              </a:rPr>
              <a:t>영상 목록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40984BE-6BF7-D5FB-33F3-CF43FB868486}"/>
              </a:ext>
            </a:extLst>
          </p:cNvPr>
          <p:cNvSpPr/>
          <p:nvPr/>
        </p:nvSpPr>
        <p:spPr>
          <a:xfrm>
            <a:off x="542305" y="240455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0F1FB0-7C9D-0381-CD3C-8B2BAAF4D6ED}"/>
              </a:ext>
            </a:extLst>
          </p:cNvPr>
          <p:cNvSpPr/>
          <p:nvPr/>
        </p:nvSpPr>
        <p:spPr>
          <a:xfrm>
            <a:off x="550571" y="3782697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DC2062B-1276-FCA6-AE93-95319EE73F83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86860CB-12DF-7315-75B4-080494F90AED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BB9662A-EFA3-7C97-1BED-870FAC9949CE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2ACEDF-3483-50B5-FB71-A7D3600ACF9B}"/>
              </a:ext>
            </a:extLst>
          </p:cNvPr>
          <p:cNvSpPr/>
          <p:nvPr/>
        </p:nvSpPr>
        <p:spPr>
          <a:xfrm>
            <a:off x="550571" y="5186917"/>
            <a:ext cx="8725437" cy="6891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취소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플레이리스트 만들기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9BA20E1-D59A-79F5-8D2D-B5255AA21EBC}"/>
              </a:ext>
            </a:extLst>
          </p:cNvPr>
          <p:cNvSpPr/>
          <p:nvPr/>
        </p:nvSpPr>
        <p:spPr>
          <a:xfrm>
            <a:off x="550571" y="520717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9799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851E9-612B-7DC4-A1A4-A4B0283F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A8B63D-C22C-7493-1611-E2D4FDFE8033}"/>
              </a:ext>
            </a:extLst>
          </p:cNvPr>
          <p:cNvSpPr/>
          <p:nvPr/>
        </p:nvSpPr>
        <p:spPr>
          <a:xfrm>
            <a:off x="519545" y="1645180"/>
            <a:ext cx="8853055" cy="50260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B6A552-8CC9-84DA-BB1A-CF6E63EBBD23}"/>
              </a:ext>
            </a:extLst>
          </p:cNvPr>
          <p:cNvSpPr/>
          <p:nvPr/>
        </p:nvSpPr>
        <p:spPr>
          <a:xfrm>
            <a:off x="519545" y="318655"/>
            <a:ext cx="885305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Subject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|                                 	</a:t>
            </a:r>
            <a:r>
              <a:rPr lang="ko-KR" altLang="en-US" dirty="0">
                <a:solidFill>
                  <a:schemeClr val="tx1"/>
                </a:solidFill>
              </a:rPr>
              <a:t>운동 플레이리스트 상세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6184A6-BC3D-CF4A-666B-A0C2BD7A9799}"/>
              </a:ext>
            </a:extLst>
          </p:cNvPr>
          <p:cNvSpPr/>
          <p:nvPr/>
        </p:nvSpPr>
        <p:spPr>
          <a:xfrm>
            <a:off x="51954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Page ID |  PLAYLIST-003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7F9479-B3F5-3023-E268-49269804C0D4}"/>
              </a:ext>
            </a:extLst>
          </p:cNvPr>
          <p:cNvSpPr/>
          <p:nvPr/>
        </p:nvSpPr>
        <p:spPr>
          <a:xfrm>
            <a:off x="4978855" y="981918"/>
            <a:ext cx="4393745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Path |  /playlists/:</a:t>
            </a:r>
            <a:r>
              <a:rPr lang="en-US" altLang="ko-KR" dirty="0" err="1">
                <a:solidFill>
                  <a:schemeClr val="tx1"/>
                </a:solidFill>
              </a:rPr>
              <a:t>playlistId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D96462-A5FF-23D0-6DE2-C4E9F2517C0A}"/>
              </a:ext>
            </a:extLst>
          </p:cNvPr>
          <p:cNvSpPr/>
          <p:nvPr/>
        </p:nvSpPr>
        <p:spPr>
          <a:xfrm>
            <a:off x="9459532" y="318655"/>
            <a:ext cx="2620851" cy="526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Description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5E3D33-7DC0-FAF1-2EEA-381CB87118B8}"/>
              </a:ext>
            </a:extLst>
          </p:cNvPr>
          <p:cNvSpPr/>
          <p:nvPr/>
        </p:nvSpPr>
        <p:spPr>
          <a:xfrm>
            <a:off x="592428" y="1712699"/>
            <a:ext cx="8683579" cy="595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4A235-A677-678E-C1DF-5B3EF09AB5CF}"/>
              </a:ext>
            </a:extLst>
          </p:cNvPr>
          <p:cNvSpPr/>
          <p:nvPr/>
        </p:nvSpPr>
        <p:spPr>
          <a:xfrm>
            <a:off x="7791717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로그인 </a:t>
            </a:r>
            <a:r>
              <a:rPr lang="en-US" altLang="ko-KR" sz="1050" dirty="0">
                <a:solidFill>
                  <a:schemeClr val="tx1"/>
                </a:solidFill>
              </a:rPr>
              <a:t>or </a:t>
            </a:r>
            <a:r>
              <a:rPr lang="ko-KR" altLang="en-US" sz="105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AC0511-7BAB-0A89-1346-125ED01D5B93}"/>
              </a:ext>
            </a:extLst>
          </p:cNvPr>
          <p:cNvSpPr/>
          <p:nvPr/>
        </p:nvSpPr>
        <p:spPr>
          <a:xfrm>
            <a:off x="550570" y="2395661"/>
            <a:ext cx="8725437" cy="6779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플레이리스트 정보 요약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대표 이미지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총 영상 수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F066C6A-17F8-79DC-77E0-C5430C25DC6F}"/>
              </a:ext>
            </a:extLst>
          </p:cNvPr>
          <p:cNvSpPr/>
          <p:nvPr/>
        </p:nvSpPr>
        <p:spPr>
          <a:xfrm>
            <a:off x="550571" y="605217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BottomNav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7DA11F-D36C-2A76-192B-15D03895CA67}"/>
              </a:ext>
            </a:extLst>
          </p:cNvPr>
          <p:cNvSpPr/>
          <p:nvPr/>
        </p:nvSpPr>
        <p:spPr>
          <a:xfrm>
            <a:off x="550570" y="3160814"/>
            <a:ext cx="8725437" cy="513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재생 버튼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공유 버튼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9B7F8EB-3DC0-6F5D-2F76-A3A97FF09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97843"/>
              </p:ext>
            </p:extLst>
          </p:nvPr>
        </p:nvGraphicFramePr>
        <p:xfrm>
          <a:off x="9459531" y="932345"/>
          <a:ext cx="2620852" cy="5738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442">
                  <a:extLst>
                    <a:ext uri="{9D8B030D-6E8A-4147-A177-3AD203B41FA5}">
                      <a16:colId xmlns:a16="http://schemas.microsoft.com/office/drawing/2014/main" val="3977894791"/>
                    </a:ext>
                  </a:extLst>
                </a:gridCol>
                <a:gridCol w="2071410">
                  <a:extLst>
                    <a:ext uri="{9D8B030D-6E8A-4147-A177-3AD203B41FA5}">
                      <a16:colId xmlns:a16="http://schemas.microsoft.com/office/drawing/2014/main" val="940590124"/>
                    </a:ext>
                  </a:extLst>
                </a:gridCol>
              </a:tblGrid>
              <a:tr h="91231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u="sng" dirty="0">
                          <a:solidFill>
                            <a:schemeClr val="tx1"/>
                          </a:solidFill>
                        </a:rPr>
                        <a:t>프로필</a:t>
                      </a:r>
                      <a:r>
                        <a:rPr lang="en-US" altLang="ko-KR" sz="90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좌측에 서비스 로고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우측에 로그인 사용자 이름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로고 클릭 시 메인 홈으로 이동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82218"/>
                  </a:ext>
                </a:extLst>
              </a:tr>
              <a:tr h="15681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플레이리스트 정보 요약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대표 썸네일 이미지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영상 개수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예</a:t>
                      </a:r>
                      <a:r>
                        <a:rPr lang="en-US" altLang="ko-KR" sz="900" dirty="0"/>
                        <a:t>: 5</a:t>
                      </a:r>
                      <a:r>
                        <a:rPr lang="ko-KR" altLang="en-US" sz="900" dirty="0"/>
                        <a:t>개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를 요약 표시한다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90656"/>
                  </a:ext>
                </a:extLst>
              </a:tr>
              <a:tr h="91231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재생 </a:t>
                      </a:r>
                      <a:r>
                        <a:rPr lang="en-US" altLang="ko-KR" sz="900" u="sng" dirty="0"/>
                        <a:t>&amp; </a:t>
                      </a:r>
                      <a:r>
                        <a:rPr lang="ko-KR" altLang="en-US" sz="900" u="sng" dirty="0"/>
                        <a:t>관리 버튼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재생</a:t>
                      </a:r>
                      <a:r>
                        <a:rPr lang="en-US" altLang="ko-KR" sz="900" b="0" dirty="0"/>
                        <a:t>]</a:t>
                      </a:r>
                      <a:r>
                        <a:rPr lang="ko-KR" altLang="en-US" sz="900" b="0" dirty="0"/>
                        <a:t> 클릭 시 첫 영상부터 순차 재생</a:t>
                      </a:r>
                      <a:r>
                        <a:rPr lang="en-US" altLang="ko-KR" sz="900" b="0" dirty="0"/>
                        <a:t>. [</a:t>
                      </a:r>
                      <a:r>
                        <a:rPr lang="ko-KR" altLang="en-US" sz="900" b="0" dirty="0"/>
                        <a:t>공유</a:t>
                      </a:r>
                      <a:r>
                        <a:rPr lang="en-US" altLang="ko-KR" sz="900" b="0" dirty="0"/>
                        <a:t>]</a:t>
                      </a:r>
                      <a:r>
                        <a:rPr lang="ko-KR" altLang="en-US" sz="900" b="0" dirty="0"/>
                        <a:t> 클릭 시 링크 복사 또는 공유 </a:t>
                      </a:r>
                      <a:r>
                        <a:rPr lang="ko-KR" altLang="en-US" sz="900" b="0" dirty="0" err="1"/>
                        <a:t>모달</a:t>
                      </a:r>
                      <a:r>
                        <a:rPr lang="ko-KR" altLang="en-US" sz="900" b="0" dirty="0"/>
                        <a:t> 노출</a:t>
                      </a:r>
                      <a:r>
                        <a:rPr lang="en-US" altLang="ko-KR" sz="900" b="0" dirty="0"/>
                        <a:t>. 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11139"/>
                  </a:ext>
                </a:extLst>
              </a:tr>
              <a:tr h="14337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영상 목록 리스트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/>
                        <a:t>플레이리스트에 포함된 영상 목록을 카드 형태로 세로 정렬하여 표시한다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영상 개수만큼 반복 </a:t>
                      </a:r>
                      <a:r>
                        <a:rPr lang="ko-KR" altLang="en-US" sz="900" dirty="0" err="1"/>
                        <a:t>렌더링되며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스크롤 가능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5736"/>
                  </a:ext>
                </a:extLst>
              </a:tr>
              <a:tr h="91231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u="sng" dirty="0"/>
                        <a:t>하단 네비게이션</a:t>
                      </a:r>
                      <a:endParaRPr lang="en-US" altLang="ko-KR" sz="900" u="sng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u="sng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홈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플레이리스트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프로필</a:t>
                      </a:r>
                      <a:r>
                        <a:rPr lang="ko-KR" altLang="en-US" sz="900" dirty="0"/>
                        <a:t> 탭 버튼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선택된 탭은 색상 강조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탭 클릭 시 각 </a:t>
                      </a:r>
                      <a:r>
                        <a:rPr lang="en-US" altLang="ko-KR" sz="900" dirty="0"/>
                        <a:t>View</a:t>
                      </a:r>
                      <a:r>
                        <a:rPr lang="ko-KR" altLang="en-US" sz="900" dirty="0"/>
                        <a:t>로 라우팅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09751"/>
                  </a:ext>
                </a:extLst>
              </a:tr>
            </a:tbl>
          </a:graphicData>
        </a:graphic>
      </p:graphicFrame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E38B2D5-BA93-7DA8-EC39-3F5A37A355DD}"/>
              </a:ext>
            </a:extLst>
          </p:cNvPr>
          <p:cNvSpPr/>
          <p:nvPr/>
        </p:nvSpPr>
        <p:spPr>
          <a:xfrm>
            <a:off x="542305" y="240455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1FB5608-EC43-6497-21FC-CF1B4D36B2D7}"/>
              </a:ext>
            </a:extLst>
          </p:cNvPr>
          <p:cNvSpPr/>
          <p:nvPr/>
        </p:nvSpPr>
        <p:spPr>
          <a:xfrm>
            <a:off x="550570" y="3179125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21887AE-9D8E-2C99-790F-127B682045BA}"/>
              </a:ext>
            </a:extLst>
          </p:cNvPr>
          <p:cNvSpPr/>
          <p:nvPr/>
        </p:nvSpPr>
        <p:spPr>
          <a:xfrm>
            <a:off x="550571" y="6044920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D0399B-429C-0846-2737-E956FBB9E102}"/>
              </a:ext>
            </a:extLst>
          </p:cNvPr>
          <p:cNvSpPr/>
          <p:nvPr/>
        </p:nvSpPr>
        <p:spPr>
          <a:xfrm>
            <a:off x="701898" y="1799917"/>
            <a:ext cx="1416676" cy="41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8E1DD3-98CD-1498-759C-1DF6B5DD683F}"/>
              </a:ext>
            </a:extLst>
          </p:cNvPr>
          <p:cNvSpPr/>
          <p:nvPr/>
        </p:nvSpPr>
        <p:spPr>
          <a:xfrm>
            <a:off x="542305" y="1671083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FAEF26-F2D3-681E-6864-EE93FFAAE53F}"/>
              </a:ext>
            </a:extLst>
          </p:cNvPr>
          <p:cNvSpPr/>
          <p:nvPr/>
        </p:nvSpPr>
        <p:spPr>
          <a:xfrm>
            <a:off x="550571" y="3811157"/>
            <a:ext cx="8725437" cy="20649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영상 목록 리스트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리스트아이템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DC46951-DA8A-B7E0-2DAA-EE44D642B745}"/>
              </a:ext>
            </a:extLst>
          </p:cNvPr>
          <p:cNvSpPr/>
          <p:nvPr/>
        </p:nvSpPr>
        <p:spPr>
          <a:xfrm>
            <a:off x="550570" y="3850459"/>
            <a:ext cx="372095" cy="3529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1795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2375</Words>
  <Application>Microsoft Office PowerPoint</Application>
  <PresentationFormat>와이드스크린</PresentationFormat>
  <Paragraphs>430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허승</dc:creator>
  <cp:lastModifiedBy>허승</cp:lastModifiedBy>
  <cp:revision>3</cp:revision>
  <dcterms:created xsi:type="dcterms:W3CDTF">2025-12-05T05:48:43Z</dcterms:created>
  <dcterms:modified xsi:type="dcterms:W3CDTF">2025-12-09T05:45:00Z</dcterms:modified>
</cp:coreProperties>
</file>